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0b13aea3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3e0b13aea3f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0b13aea3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g3e0b13aea3f_0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e0b13aea3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g3e0b13aea3f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0b13aea3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e0b13aea3f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0b13aea3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e0b13aea3f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0b13aea3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e0b13aea3f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0b13aea3f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e0b13aea3f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0b13aea3f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e0b13aea3f_0_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0b13aea3f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3e0b13aea3f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0b13aea3f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e0b13aea3f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e0b13aea3f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3e0b13aea3f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e0b13aea3f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3e0b13aea3f_0_1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3" name="Shape 83"/>
        <p:cNvGrpSpPr/>
        <p:nvPr/>
      </p:nvGrpSpPr>
      <p:grpSpPr>
        <a:xfrm>
          <a:off x="0" y="0"/>
          <a:ext cx="0" cy="0"/>
          <a:chOff x="0" y="0"/>
          <a:chExt cx="0" cy="0"/>
        </a:xfrm>
      </p:grpSpPr>
      <p:sp>
        <p:nvSpPr>
          <p:cNvPr id="84" name="Google Shape;84;p13"/>
          <p:cNvSpPr/>
          <p:nvPr/>
        </p:nvSpPr>
        <p:spPr>
          <a:xfrm>
            <a:off x="0" y="0"/>
            <a:ext cx="9144000" cy="64008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3"/>
          <p:cNvSpPr txBox="1"/>
          <p:nvPr/>
        </p:nvSpPr>
        <p:spPr>
          <a:xfrm>
            <a:off x="108750" y="137150"/>
            <a:ext cx="88974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Optimisation de la latence d’un système de scoring crédit</a:t>
            </a:r>
            <a:endParaRPr/>
          </a:p>
        </p:txBody>
      </p:sp>
      <p:sp>
        <p:nvSpPr>
          <p:cNvPr id="86" name="Google Shape;86;p13"/>
          <p:cNvSpPr/>
          <p:nvPr/>
        </p:nvSpPr>
        <p:spPr>
          <a:xfrm>
            <a:off x="457200" y="914400"/>
            <a:ext cx="8247300" cy="5303400"/>
          </a:xfrm>
          <a:prstGeom prst="roundRect">
            <a:avLst>
              <a:gd fmla="val 16667" name="adj"/>
            </a:avLst>
          </a:prstGeom>
          <a:solidFill>
            <a:srgbClr val="F8FDFC"/>
          </a:solidFill>
          <a:ln cap="flat" cmpd="sng" w="9525">
            <a:solidFill>
              <a:srgbClr val="48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txBox="1"/>
          <p:nvPr/>
        </p:nvSpPr>
        <p:spPr>
          <a:xfrm>
            <a:off x="577050" y="1290025"/>
            <a:ext cx="7991100" cy="41328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200"/>
              </a:spcBef>
              <a:spcAft>
                <a:spcPts val="0"/>
              </a:spcAft>
              <a:buClr>
                <a:schemeClr val="dk1"/>
              </a:buClr>
              <a:buSzPts val="1100"/>
              <a:buFont typeface="Arial"/>
              <a:buNone/>
            </a:pPr>
            <a:r>
              <a:rPr lang="en-US" sz="1700">
                <a:solidFill>
                  <a:srgbClr val="282828"/>
                </a:solidFill>
              </a:rPr>
              <a:t>Ce document présente une analyse de performance réalisée sur un système de scoring crédit déployé via une API FastAPI dans une logique MLOps.</a:t>
            </a:r>
            <a:endParaRPr sz="1700">
              <a:solidFill>
                <a:srgbClr val="282828"/>
              </a:solidFill>
            </a:endParaRPr>
          </a:p>
          <a:p>
            <a:pPr indent="0" lvl="0" marL="0" rtl="0" algn="just">
              <a:lnSpc>
                <a:spcPct val="115000"/>
              </a:lnSpc>
              <a:spcBef>
                <a:spcPts val="1200"/>
              </a:spcBef>
              <a:spcAft>
                <a:spcPts val="0"/>
              </a:spcAft>
              <a:buClr>
                <a:schemeClr val="dk1"/>
              </a:buClr>
              <a:buSzPts val="1100"/>
              <a:buFont typeface="Arial"/>
              <a:buNone/>
            </a:pPr>
            <a:r>
              <a:rPr lang="en-US" sz="1700">
                <a:solidFill>
                  <a:srgbClr val="282828"/>
                </a:solidFill>
              </a:rPr>
              <a:t>L’objectif principal est d’évaluer la capacité du système à répondre rapidement dans un contexte d’utilisation proche de la production.</a:t>
            </a:r>
            <a:endParaRPr sz="1700">
              <a:solidFill>
                <a:srgbClr val="282828"/>
              </a:solidFill>
            </a:endParaRPr>
          </a:p>
          <a:p>
            <a:pPr indent="0" lvl="0" marL="0" rtl="0" algn="just">
              <a:lnSpc>
                <a:spcPct val="115000"/>
              </a:lnSpc>
              <a:spcBef>
                <a:spcPts val="1200"/>
              </a:spcBef>
              <a:spcAft>
                <a:spcPts val="0"/>
              </a:spcAft>
              <a:buClr>
                <a:schemeClr val="dk1"/>
              </a:buClr>
              <a:buSzPts val="1100"/>
              <a:buFont typeface="Arial"/>
              <a:buNone/>
            </a:pPr>
            <a:r>
              <a:rPr lang="en-US" sz="1700">
                <a:solidFill>
                  <a:srgbClr val="282828"/>
                </a:solidFill>
              </a:rPr>
              <a:t>L’étude porte sur les performances globales du pipeline d’inférence ainsi que sur l’identification des principaux coûts techniques impactant la latence.</a:t>
            </a:r>
            <a:endParaRPr sz="1700">
              <a:solidFill>
                <a:srgbClr val="282828"/>
              </a:solidFill>
            </a:endParaRPr>
          </a:p>
          <a:p>
            <a:pPr indent="0" lvl="0" marL="0" rtl="0" algn="just">
              <a:lnSpc>
                <a:spcPct val="115000"/>
              </a:lnSpc>
              <a:spcBef>
                <a:spcPts val="1200"/>
              </a:spcBef>
              <a:spcAft>
                <a:spcPts val="0"/>
              </a:spcAft>
              <a:buClr>
                <a:schemeClr val="dk1"/>
              </a:buClr>
              <a:buSzPts val="1100"/>
              <a:buFont typeface="Arial"/>
              <a:buNone/>
            </a:pPr>
            <a:r>
              <a:rPr lang="en-US" sz="1700">
                <a:solidFill>
                  <a:srgbClr val="282828"/>
                </a:solidFill>
              </a:rPr>
              <a:t>Plusieurs campagnes de benchmarks, de profiling et d’optimisation ont été réalisées afin d’améliorer la stabilité et la rapidité des temps de réponse.</a:t>
            </a:r>
            <a:endParaRPr sz="1700">
              <a:solidFill>
                <a:srgbClr val="282828"/>
              </a:solidFill>
            </a:endParaRPr>
          </a:p>
          <a:p>
            <a:pPr indent="0" lvl="0" marL="0" rtl="0" algn="just">
              <a:lnSpc>
                <a:spcPct val="115000"/>
              </a:lnSpc>
              <a:spcBef>
                <a:spcPts val="1200"/>
              </a:spcBef>
              <a:spcAft>
                <a:spcPts val="0"/>
              </a:spcAft>
              <a:buClr>
                <a:schemeClr val="dk1"/>
              </a:buClr>
              <a:buSzPts val="1100"/>
              <a:buFont typeface="Arial"/>
              <a:buNone/>
            </a:pPr>
            <a:r>
              <a:rPr lang="en-US" sz="1700">
                <a:solidFill>
                  <a:srgbClr val="282828"/>
                </a:solidFill>
              </a:rPr>
              <a:t>Le système a également été instrumenté afin de renforcer son observabilité, sa traçabilité et le suivi des performances dans le temps.</a:t>
            </a:r>
            <a:endParaRPr sz="1700">
              <a:solidFill>
                <a:srgbClr val="282828"/>
              </a:solidFill>
            </a:endParaRPr>
          </a:p>
          <a:p>
            <a:pPr indent="0" lvl="0" marL="0" rtl="0" algn="just">
              <a:lnSpc>
                <a:spcPct val="115000"/>
              </a:lnSpc>
              <a:spcBef>
                <a:spcPts val="1200"/>
              </a:spcBef>
              <a:spcAft>
                <a:spcPts val="1200"/>
              </a:spcAft>
              <a:buSzPts val="1100"/>
              <a:buNone/>
            </a:pPr>
            <a:r>
              <a:t/>
            </a:r>
            <a:endParaRPr sz="1700">
              <a:solidFill>
                <a:srgbClr val="28282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1" name="Shape 91"/>
        <p:cNvGrpSpPr/>
        <p:nvPr/>
      </p:nvGrpSpPr>
      <p:grpSpPr>
        <a:xfrm>
          <a:off x="0" y="0"/>
          <a:ext cx="0" cy="0"/>
          <a:chOff x="0" y="0"/>
          <a:chExt cx="0" cy="0"/>
        </a:xfrm>
      </p:grpSpPr>
      <p:sp>
        <p:nvSpPr>
          <p:cNvPr id="92" name="Google Shape;92;p14"/>
          <p:cNvSpPr/>
          <p:nvPr/>
        </p:nvSpPr>
        <p:spPr>
          <a:xfrm>
            <a:off x="457200" y="914400"/>
            <a:ext cx="8247300" cy="5303400"/>
          </a:xfrm>
          <a:prstGeom prst="roundRect">
            <a:avLst>
              <a:gd fmla="val 16667" name="adj"/>
            </a:avLst>
          </a:prstGeom>
          <a:solidFill>
            <a:srgbClr val="F8FDFC"/>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4"/>
          <p:cNvSpPr/>
          <p:nvPr/>
        </p:nvSpPr>
        <p:spPr>
          <a:xfrm>
            <a:off x="0" y="0"/>
            <a:ext cx="9144000" cy="64008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 name="Google Shape;94;p14"/>
          <p:cNvSpPr txBox="1"/>
          <p:nvPr/>
        </p:nvSpPr>
        <p:spPr>
          <a:xfrm>
            <a:off x="457200" y="137150"/>
            <a:ext cx="85791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Contexte métier</a:t>
            </a:r>
            <a:endParaRPr/>
          </a:p>
        </p:txBody>
      </p:sp>
      <p:sp>
        <p:nvSpPr>
          <p:cNvPr id="95" name="Google Shape;95;p14"/>
          <p:cNvSpPr txBox="1"/>
          <p:nvPr/>
        </p:nvSpPr>
        <p:spPr>
          <a:xfrm>
            <a:off x="577050" y="1290025"/>
            <a:ext cx="7991100" cy="44268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200"/>
              </a:spcBef>
              <a:spcAft>
                <a:spcPts val="0"/>
              </a:spcAft>
              <a:buSzPts val="1100"/>
              <a:buNone/>
            </a:pPr>
            <a:r>
              <a:rPr lang="en-US" sz="1700">
                <a:solidFill>
                  <a:srgbClr val="282828"/>
                </a:solidFill>
              </a:rPr>
              <a:t>Dans un système de scoring crédit, les prédictions doivent être retournées rapidement afin de permettre une prise de décision fluide et exploitable par les applications métiers.</a:t>
            </a:r>
            <a:endParaRPr sz="1700">
              <a:solidFill>
                <a:srgbClr val="282828"/>
              </a:solidFill>
            </a:endParaRPr>
          </a:p>
          <a:p>
            <a:pPr indent="0" lvl="0" marL="0" rtl="0" algn="just">
              <a:lnSpc>
                <a:spcPct val="115000"/>
              </a:lnSpc>
              <a:spcBef>
                <a:spcPts val="1200"/>
              </a:spcBef>
              <a:spcAft>
                <a:spcPts val="0"/>
              </a:spcAft>
              <a:buSzPts val="1100"/>
              <a:buNone/>
            </a:pPr>
            <a:r>
              <a:rPr lang="en-US" sz="1700">
                <a:solidFill>
                  <a:srgbClr val="282828"/>
                </a:solidFill>
              </a:rPr>
              <a:t>Les plateformes de crédit utilisent souvent ces API dans des processus automatisés où chaque milliseconde peut impacter l’expérience utilisateur et le traitement des dossiers.</a:t>
            </a:r>
            <a:endParaRPr sz="1700">
              <a:solidFill>
                <a:srgbClr val="282828"/>
              </a:solidFill>
            </a:endParaRPr>
          </a:p>
          <a:p>
            <a:pPr indent="0" lvl="0" marL="0" rtl="0" algn="just">
              <a:lnSpc>
                <a:spcPct val="115000"/>
              </a:lnSpc>
              <a:spcBef>
                <a:spcPts val="1200"/>
              </a:spcBef>
              <a:spcAft>
                <a:spcPts val="0"/>
              </a:spcAft>
              <a:buSzPts val="1100"/>
              <a:buNone/>
            </a:pPr>
            <a:r>
              <a:rPr lang="en-US" sz="1700">
                <a:solidFill>
                  <a:srgbClr val="282828"/>
                </a:solidFill>
              </a:rPr>
              <a:t>Une latence excessive peut provoquer des ralentissements, augmenter le temps d’attente et limiter l’intégration avec des services tiers ou des interfaces temps réel. La performance devient donc un enjeu central de qualité de service, de stabilité et de fiabilité du système.</a:t>
            </a:r>
            <a:endParaRPr sz="1700">
              <a:solidFill>
                <a:srgbClr val="282828"/>
              </a:solidFill>
            </a:endParaRPr>
          </a:p>
          <a:p>
            <a:pPr indent="0" lvl="0" marL="0" rtl="0" algn="just">
              <a:lnSpc>
                <a:spcPct val="115000"/>
              </a:lnSpc>
              <a:spcBef>
                <a:spcPts val="1200"/>
              </a:spcBef>
              <a:spcAft>
                <a:spcPts val="1200"/>
              </a:spcAft>
              <a:buSzPts val="1100"/>
              <a:buNone/>
            </a:pPr>
            <a:r>
              <a:rPr lang="en-US" sz="1700">
                <a:solidFill>
                  <a:srgbClr val="282828"/>
                </a:solidFill>
              </a:rPr>
              <a:t>Dans ce type d’architecture, une API capable de répondre en quelques dizaines de millisecondes est généralement considérée comme performante pour un usage de machine learning en production. </a:t>
            </a:r>
            <a:endParaRPr sz="1700">
              <a:solidFill>
                <a:srgbClr val="28282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9" name="Shape 99"/>
        <p:cNvGrpSpPr/>
        <p:nvPr/>
      </p:nvGrpSpPr>
      <p:grpSpPr>
        <a:xfrm>
          <a:off x="0" y="0"/>
          <a:ext cx="0" cy="0"/>
          <a:chOff x="0" y="0"/>
          <a:chExt cx="0" cy="0"/>
        </a:xfrm>
      </p:grpSpPr>
      <p:sp>
        <p:nvSpPr>
          <p:cNvPr id="100" name="Google Shape;100;p15"/>
          <p:cNvSpPr/>
          <p:nvPr/>
        </p:nvSpPr>
        <p:spPr>
          <a:xfrm>
            <a:off x="457200" y="914400"/>
            <a:ext cx="8247300" cy="5303400"/>
          </a:xfrm>
          <a:prstGeom prst="roundRect">
            <a:avLst>
              <a:gd fmla="val 16667" name="adj"/>
            </a:avLst>
          </a:prstGeom>
          <a:solidFill>
            <a:srgbClr val="F8FDFC"/>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1" name="Google Shape;101;p15"/>
          <p:cNvSpPr/>
          <p:nvPr/>
        </p:nvSpPr>
        <p:spPr>
          <a:xfrm>
            <a:off x="0" y="0"/>
            <a:ext cx="9144000" cy="64008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15"/>
          <p:cNvSpPr txBox="1"/>
          <p:nvPr/>
        </p:nvSpPr>
        <p:spPr>
          <a:xfrm>
            <a:off x="457200" y="137150"/>
            <a:ext cx="8412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Objectifs de l’analyse</a:t>
            </a:r>
            <a:endParaRPr/>
          </a:p>
        </p:txBody>
      </p:sp>
      <p:sp>
        <p:nvSpPr>
          <p:cNvPr id="103" name="Google Shape;103;p15"/>
          <p:cNvSpPr txBox="1"/>
          <p:nvPr/>
        </p:nvSpPr>
        <p:spPr>
          <a:xfrm>
            <a:off x="591350" y="1229600"/>
            <a:ext cx="8037000" cy="47604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200"/>
              </a:spcBef>
              <a:spcAft>
                <a:spcPts val="0"/>
              </a:spcAft>
              <a:buClr>
                <a:schemeClr val="dk1"/>
              </a:buClr>
              <a:buSzPts val="1100"/>
              <a:buFont typeface="Arial"/>
              <a:buNone/>
            </a:pPr>
            <a:r>
              <a:rPr lang="en-US" sz="1700">
                <a:solidFill>
                  <a:srgbClr val="282828"/>
                </a:solidFill>
              </a:rPr>
              <a:t>Cette analyse a pour objectif d’évaluer précisément les performances du système de scoring crédit dans un environnement de benchmark contrôlé.</a:t>
            </a:r>
            <a:endParaRPr sz="1700">
              <a:solidFill>
                <a:srgbClr val="282828"/>
              </a:solidFill>
            </a:endParaRPr>
          </a:p>
          <a:p>
            <a:pPr indent="0" lvl="0" marL="0" rtl="0" algn="just">
              <a:lnSpc>
                <a:spcPct val="115000"/>
              </a:lnSpc>
              <a:spcBef>
                <a:spcPts val="1200"/>
              </a:spcBef>
              <a:spcAft>
                <a:spcPts val="0"/>
              </a:spcAft>
              <a:buClr>
                <a:schemeClr val="dk1"/>
              </a:buClr>
              <a:buSzPts val="1100"/>
              <a:buFont typeface="Arial"/>
              <a:buNone/>
            </a:pPr>
            <a:r>
              <a:rPr lang="en-US" sz="1700">
                <a:solidFill>
                  <a:srgbClr val="282828"/>
                </a:solidFill>
              </a:rPr>
              <a:t>Les travaux réalisés visent à identifier les principaux coûts techniques de la chaîne d’inférence afin de comprendre où la latence est réellement consommée. </a:t>
            </a:r>
            <a:endParaRPr sz="1700">
              <a:solidFill>
                <a:srgbClr val="282828"/>
              </a:solidFill>
            </a:endParaRPr>
          </a:p>
          <a:p>
            <a:pPr indent="0" lvl="0" marL="0" rtl="0" algn="just">
              <a:lnSpc>
                <a:spcPct val="115000"/>
              </a:lnSpc>
              <a:spcBef>
                <a:spcPts val="1200"/>
              </a:spcBef>
              <a:spcAft>
                <a:spcPts val="0"/>
              </a:spcAft>
              <a:buClr>
                <a:schemeClr val="dk1"/>
              </a:buClr>
              <a:buSzPts val="1100"/>
              <a:buFont typeface="Arial"/>
              <a:buNone/>
            </a:pPr>
            <a:r>
              <a:rPr lang="en-US" sz="1700">
                <a:solidFill>
                  <a:srgbClr val="282828"/>
                </a:solidFill>
              </a:rPr>
              <a:t>L’étude compare également les performances du backend sklearn avec une version optimisée utilisant ONNX Runtime afin d’évaluer l’impact réel du moteur d’inférence sur les temps de réponse.</a:t>
            </a:r>
            <a:endParaRPr sz="1700">
              <a:solidFill>
                <a:srgbClr val="282828"/>
              </a:solidFill>
            </a:endParaRPr>
          </a:p>
          <a:p>
            <a:pPr indent="0" lvl="0" marL="0" rtl="0" algn="just">
              <a:lnSpc>
                <a:spcPct val="115000"/>
              </a:lnSpc>
              <a:spcBef>
                <a:spcPts val="1200"/>
              </a:spcBef>
              <a:spcAft>
                <a:spcPts val="0"/>
              </a:spcAft>
              <a:buClr>
                <a:schemeClr val="dk1"/>
              </a:buClr>
              <a:buSzPts val="1100"/>
              <a:buFont typeface="Arial"/>
              <a:buNone/>
            </a:pPr>
            <a:r>
              <a:rPr lang="en-US" sz="1700">
                <a:solidFill>
                  <a:srgbClr val="282828"/>
                </a:solidFill>
              </a:rPr>
              <a:t>L’analyse cherche aussi à distinguer les coûts liés au modèle de ceux provoqués par l’architecture applicative, notamment les échanges HTTP, le preprocessing, la validation FastAPI, la sérialisation JSON et le logging.</a:t>
            </a:r>
            <a:endParaRPr sz="1700">
              <a:solidFill>
                <a:srgbClr val="282828"/>
              </a:solidFill>
            </a:endParaRPr>
          </a:p>
          <a:p>
            <a:pPr indent="0" lvl="0" marL="0" rtl="0" algn="just">
              <a:lnSpc>
                <a:spcPct val="115000"/>
              </a:lnSpc>
              <a:spcBef>
                <a:spcPts val="1200"/>
              </a:spcBef>
              <a:spcAft>
                <a:spcPts val="0"/>
              </a:spcAft>
              <a:buClr>
                <a:schemeClr val="dk1"/>
              </a:buClr>
              <a:buSzPts val="1100"/>
              <a:buFont typeface="Arial"/>
              <a:buNone/>
            </a:pPr>
            <a:r>
              <a:rPr lang="en-US" sz="1700">
                <a:solidFill>
                  <a:srgbClr val="282828"/>
                </a:solidFill>
              </a:rPr>
              <a:t>Cette démarche permet d’identifier les optimisations les plus pertinentes dans une logique MLOps orientée performance, observabilité et maintenabilité du système. </a:t>
            </a:r>
            <a:endParaRPr sz="1700">
              <a:solidFill>
                <a:srgbClr val="282828"/>
              </a:solidFill>
            </a:endParaRPr>
          </a:p>
          <a:p>
            <a:pPr indent="0" lvl="0" marL="0" marR="0" rtl="0" algn="just">
              <a:spcBef>
                <a:spcPts val="1400"/>
              </a:spcBef>
              <a:spcAft>
                <a:spcPts val="0"/>
              </a:spcAft>
              <a:buNone/>
            </a:pPr>
            <a:r>
              <a:t/>
            </a:r>
            <a:endParaRPr sz="1700">
              <a:solidFill>
                <a:srgbClr val="28282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7" name="Shape 107"/>
        <p:cNvGrpSpPr/>
        <p:nvPr/>
      </p:nvGrpSpPr>
      <p:grpSpPr>
        <a:xfrm>
          <a:off x="0" y="0"/>
          <a:ext cx="0" cy="0"/>
          <a:chOff x="0" y="0"/>
          <a:chExt cx="0" cy="0"/>
        </a:xfrm>
      </p:grpSpPr>
      <p:sp>
        <p:nvSpPr>
          <p:cNvPr id="108" name="Google Shape;108;p16"/>
          <p:cNvSpPr/>
          <p:nvPr/>
        </p:nvSpPr>
        <p:spPr>
          <a:xfrm>
            <a:off x="457200" y="914400"/>
            <a:ext cx="8247300" cy="5303400"/>
          </a:xfrm>
          <a:prstGeom prst="roundRect">
            <a:avLst>
              <a:gd fmla="val 16667" name="adj"/>
            </a:avLst>
          </a:prstGeom>
          <a:solidFill>
            <a:srgbClr val="F8FDFC"/>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 name="Google Shape;109;p16"/>
          <p:cNvSpPr/>
          <p:nvPr/>
        </p:nvSpPr>
        <p:spPr>
          <a:xfrm>
            <a:off x="0" y="0"/>
            <a:ext cx="9144000" cy="64008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16"/>
          <p:cNvSpPr txBox="1"/>
          <p:nvPr/>
        </p:nvSpPr>
        <p:spPr>
          <a:xfrm>
            <a:off x="457200" y="137150"/>
            <a:ext cx="85488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Architecture du système</a:t>
            </a:r>
            <a:endParaRPr/>
          </a:p>
        </p:txBody>
      </p:sp>
      <p:sp>
        <p:nvSpPr>
          <p:cNvPr id="111" name="Google Shape;111;p16"/>
          <p:cNvSpPr txBox="1"/>
          <p:nvPr/>
        </p:nvSpPr>
        <p:spPr>
          <a:xfrm>
            <a:off x="592550" y="1259825"/>
            <a:ext cx="7975500" cy="4760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700">
                <a:solidFill>
                  <a:srgbClr val="282828"/>
                </a:solidFill>
              </a:rPr>
              <a:t>Le système repose sur une architecture MLOps organisée en plusieurs couches afin de séparer clairement les responsabilités techniques et faciliter la maintenabilité de l’application.</a:t>
            </a:r>
            <a:endParaRPr sz="1700">
              <a:solidFill>
                <a:srgbClr val="282828"/>
              </a:solidFill>
            </a:endParaRPr>
          </a:p>
          <a:p>
            <a:pPr indent="0" lvl="0" marL="0" rtl="0" algn="l">
              <a:lnSpc>
                <a:spcPct val="115000"/>
              </a:lnSpc>
              <a:spcBef>
                <a:spcPts val="1200"/>
              </a:spcBef>
              <a:spcAft>
                <a:spcPts val="0"/>
              </a:spcAft>
              <a:buClr>
                <a:schemeClr val="dk1"/>
              </a:buClr>
              <a:buSzPts val="1100"/>
              <a:buFont typeface="Arial"/>
              <a:buNone/>
            </a:pPr>
            <a:r>
              <a:rPr lang="en-US" sz="1700">
                <a:solidFill>
                  <a:srgbClr val="282828"/>
                </a:solidFill>
              </a:rPr>
              <a:t>FastAPI assure l’exposition des endpoints et centralise la gestion des requêtes HTTP, de la validation des données et de l’exécution du pipeline d’inférence.</a:t>
            </a:r>
            <a:endParaRPr sz="1700">
              <a:solidFill>
                <a:srgbClr val="282828"/>
              </a:solidFill>
            </a:endParaRPr>
          </a:p>
          <a:p>
            <a:pPr indent="0" lvl="0" marL="0" rtl="0" algn="l">
              <a:lnSpc>
                <a:spcPct val="115000"/>
              </a:lnSpc>
              <a:spcBef>
                <a:spcPts val="1200"/>
              </a:spcBef>
              <a:spcAft>
                <a:spcPts val="0"/>
              </a:spcAft>
              <a:buClr>
                <a:schemeClr val="dk1"/>
              </a:buClr>
              <a:buSzPts val="1100"/>
              <a:buFont typeface="Arial"/>
              <a:buNone/>
            </a:pPr>
            <a:r>
              <a:rPr lang="en-US" sz="1700">
                <a:solidFill>
                  <a:srgbClr val="282828"/>
                </a:solidFill>
              </a:rPr>
              <a:t>Les services métier gèrent la logique de preprocessing, d’inférence, de monitoring et de persistance des données.</a:t>
            </a:r>
            <a:endParaRPr sz="1700">
              <a:solidFill>
                <a:srgbClr val="282828"/>
              </a:solidFill>
            </a:endParaRPr>
          </a:p>
          <a:p>
            <a:pPr indent="0" lvl="0" marL="0" rtl="0" algn="l">
              <a:lnSpc>
                <a:spcPct val="115000"/>
              </a:lnSpc>
              <a:spcBef>
                <a:spcPts val="1200"/>
              </a:spcBef>
              <a:spcAft>
                <a:spcPts val="0"/>
              </a:spcAft>
              <a:buClr>
                <a:schemeClr val="dk1"/>
              </a:buClr>
              <a:buSzPts val="1100"/>
              <a:buFont typeface="Arial"/>
              <a:buNone/>
            </a:pPr>
            <a:r>
              <a:rPr lang="en-US" sz="1700">
                <a:solidFill>
                  <a:srgbClr val="282828"/>
                </a:solidFill>
              </a:rPr>
              <a:t>Les informations de prédiction, les métriques et les logs applicatifs sont stockés dans PostgreSQL afin de garantir la traçabilité du système.</a:t>
            </a:r>
            <a:endParaRPr sz="1700">
              <a:solidFill>
                <a:srgbClr val="282828"/>
              </a:solidFill>
            </a:endParaRPr>
          </a:p>
          <a:p>
            <a:pPr indent="0" lvl="0" marL="0" rtl="0" algn="l">
              <a:lnSpc>
                <a:spcPct val="115000"/>
              </a:lnSpc>
              <a:spcBef>
                <a:spcPts val="1200"/>
              </a:spcBef>
              <a:spcAft>
                <a:spcPts val="0"/>
              </a:spcAft>
              <a:buClr>
                <a:schemeClr val="dk1"/>
              </a:buClr>
              <a:buSzPts val="1100"/>
              <a:buFont typeface="Arial"/>
              <a:buNone/>
            </a:pPr>
            <a:r>
              <a:rPr lang="en-US" sz="1700">
                <a:solidFill>
                  <a:srgbClr val="282828"/>
                </a:solidFill>
              </a:rPr>
              <a:t>L’architecture intègre également des composants dédiés au monitoring et à l’observabilité afin de suivre le comportement global du pipeline d’inférence dans une logique MLOps. </a:t>
            </a:r>
            <a:endParaRPr sz="1700">
              <a:solidFill>
                <a:srgbClr val="282828"/>
              </a:solidFill>
            </a:endParaRPr>
          </a:p>
          <a:p>
            <a:pPr indent="0" lvl="0" marL="0" marR="0" rtl="0" algn="l">
              <a:spcBef>
                <a:spcPts val="1400"/>
              </a:spcBef>
              <a:spcAft>
                <a:spcPts val="0"/>
              </a:spcAft>
              <a:buNone/>
            </a:pPr>
            <a:r>
              <a:t/>
            </a:r>
            <a:endParaRPr sz="1700">
              <a:solidFill>
                <a:srgbClr val="28282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5" name="Shape 115"/>
        <p:cNvGrpSpPr/>
        <p:nvPr/>
      </p:nvGrpSpPr>
      <p:grpSpPr>
        <a:xfrm>
          <a:off x="0" y="0"/>
          <a:ext cx="0" cy="0"/>
          <a:chOff x="0" y="0"/>
          <a:chExt cx="0" cy="0"/>
        </a:xfrm>
      </p:grpSpPr>
      <p:sp>
        <p:nvSpPr>
          <p:cNvPr id="116" name="Google Shape;116;p17"/>
          <p:cNvSpPr/>
          <p:nvPr/>
        </p:nvSpPr>
        <p:spPr>
          <a:xfrm>
            <a:off x="0" y="0"/>
            <a:ext cx="9144000" cy="64020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17"/>
          <p:cNvSpPr txBox="1"/>
          <p:nvPr/>
        </p:nvSpPr>
        <p:spPr>
          <a:xfrm>
            <a:off x="457200" y="137150"/>
            <a:ext cx="85488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800">
                <a:solidFill>
                  <a:schemeClr val="lt1"/>
                </a:solidFill>
                <a:latin typeface="Calibri"/>
                <a:ea typeface="Calibri"/>
                <a:cs typeface="Calibri"/>
                <a:sym typeface="Calibri"/>
              </a:rPr>
              <a:t>Latence API interne et temps pur d’inférence</a:t>
            </a:r>
            <a:endParaRPr/>
          </a:p>
        </p:txBody>
      </p:sp>
      <p:sp>
        <p:nvSpPr>
          <p:cNvPr id="118" name="Google Shape;118;p17"/>
          <p:cNvSpPr txBox="1"/>
          <p:nvPr/>
        </p:nvSpPr>
        <p:spPr>
          <a:xfrm>
            <a:off x="592550" y="1259825"/>
            <a:ext cx="7975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1400"/>
              </a:spcBef>
              <a:spcAft>
                <a:spcPts val="0"/>
              </a:spcAft>
              <a:buNone/>
            </a:pPr>
            <a:r>
              <a:t/>
            </a:r>
            <a:endParaRPr sz="1700">
              <a:solidFill>
                <a:srgbClr val="282828"/>
              </a:solidFill>
            </a:endParaRPr>
          </a:p>
        </p:txBody>
      </p:sp>
      <p:pic>
        <p:nvPicPr>
          <p:cNvPr id="119" name="Google Shape;119;p17"/>
          <p:cNvPicPr preferRelativeResize="0"/>
          <p:nvPr/>
        </p:nvPicPr>
        <p:blipFill>
          <a:blip r:embed="rId3">
            <a:alphaModFix/>
          </a:blip>
          <a:stretch>
            <a:fillRect/>
          </a:stretch>
        </p:blipFill>
        <p:spPr>
          <a:xfrm>
            <a:off x="97750" y="1058175"/>
            <a:ext cx="8839198" cy="47416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3" name="Shape 123"/>
        <p:cNvGrpSpPr/>
        <p:nvPr/>
      </p:nvGrpSpPr>
      <p:grpSpPr>
        <a:xfrm>
          <a:off x="0" y="0"/>
          <a:ext cx="0" cy="0"/>
          <a:chOff x="0" y="0"/>
          <a:chExt cx="0" cy="0"/>
        </a:xfrm>
      </p:grpSpPr>
      <p:sp>
        <p:nvSpPr>
          <p:cNvPr id="124" name="Google Shape;124;p18"/>
          <p:cNvSpPr/>
          <p:nvPr/>
        </p:nvSpPr>
        <p:spPr>
          <a:xfrm>
            <a:off x="457200" y="914400"/>
            <a:ext cx="8247300" cy="5303400"/>
          </a:xfrm>
          <a:prstGeom prst="roundRect">
            <a:avLst>
              <a:gd fmla="val 16667" name="adj"/>
            </a:avLst>
          </a:prstGeom>
          <a:solidFill>
            <a:srgbClr val="F8FDFC"/>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18"/>
          <p:cNvSpPr/>
          <p:nvPr/>
        </p:nvSpPr>
        <p:spPr>
          <a:xfrm>
            <a:off x="0" y="0"/>
            <a:ext cx="9144000" cy="64020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18"/>
          <p:cNvSpPr txBox="1"/>
          <p:nvPr/>
        </p:nvSpPr>
        <p:spPr>
          <a:xfrm>
            <a:off x="457200" y="137150"/>
            <a:ext cx="85488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800">
                <a:solidFill>
                  <a:schemeClr val="lt1"/>
                </a:solidFill>
                <a:latin typeface="Calibri"/>
                <a:ea typeface="Calibri"/>
                <a:cs typeface="Calibri"/>
                <a:sym typeface="Calibri"/>
              </a:rPr>
              <a:t>Analyse des resultats</a:t>
            </a:r>
            <a:endParaRPr/>
          </a:p>
        </p:txBody>
      </p:sp>
      <p:sp>
        <p:nvSpPr>
          <p:cNvPr id="127" name="Google Shape;127;p18"/>
          <p:cNvSpPr txBox="1"/>
          <p:nvPr/>
        </p:nvSpPr>
        <p:spPr>
          <a:xfrm>
            <a:off x="592550" y="1259825"/>
            <a:ext cx="7975500" cy="50640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chemeClr val="dk1"/>
              </a:buClr>
              <a:buSzPts val="1100"/>
              <a:buFont typeface="Arial"/>
              <a:buNone/>
            </a:pPr>
            <a:r>
              <a:rPr lang="en-US" sz="1700">
                <a:solidFill>
                  <a:schemeClr val="dk1"/>
                </a:solidFill>
              </a:rPr>
              <a:t>Les mesures montrent que le temps d’inférence reste inférieur à la latence totale observée côté API.</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Latence API moyenne : </a:t>
            </a:r>
            <a:r>
              <a:rPr b="1" lang="en-US" sz="1700">
                <a:solidFill>
                  <a:schemeClr val="dk1"/>
                </a:solidFill>
              </a:rPr>
              <a:t>11.83 ms</a:t>
            </a:r>
            <a:endParaRPr b="1"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Inférence moyenne : </a:t>
            </a:r>
            <a:r>
              <a:rPr b="1" lang="en-US" sz="1700">
                <a:solidFill>
                  <a:schemeClr val="dk1"/>
                </a:solidFill>
              </a:rPr>
              <a:t>7.66 ms</a:t>
            </a:r>
            <a:endParaRPr b="1"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P95 API : </a:t>
            </a:r>
            <a:r>
              <a:rPr b="1" lang="en-US" sz="1700">
                <a:solidFill>
                  <a:schemeClr val="dk1"/>
                </a:solidFill>
              </a:rPr>
              <a:t>15.72 ms</a:t>
            </a:r>
            <a:endParaRPr b="1"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P95 inférence : </a:t>
            </a:r>
            <a:r>
              <a:rPr b="1" lang="en-US" sz="1700">
                <a:solidFill>
                  <a:schemeClr val="dk1"/>
                </a:solidFill>
              </a:rPr>
              <a:t>10.86 ms</a:t>
            </a:r>
            <a:endParaRPr b="1"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P99 API : </a:t>
            </a:r>
            <a:r>
              <a:rPr b="1" lang="en-US" sz="1700">
                <a:solidFill>
                  <a:schemeClr val="dk1"/>
                </a:solidFill>
              </a:rPr>
              <a:t>17.1 ms</a:t>
            </a:r>
            <a:endParaRPr b="1"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P99 inférence : </a:t>
            </a:r>
            <a:r>
              <a:rPr b="1" lang="en-US" sz="1700">
                <a:solidFill>
                  <a:schemeClr val="dk1"/>
                </a:solidFill>
              </a:rPr>
              <a:t>12.33 ms</a:t>
            </a:r>
            <a:endParaRPr b="1" sz="1700">
              <a:solidFill>
                <a:schemeClr val="dk1"/>
              </a:solidFill>
            </a:endParaRPr>
          </a:p>
          <a:p>
            <a:pPr indent="0" lvl="0" marL="0" rtl="0" algn="l">
              <a:lnSpc>
                <a:spcPct val="100000"/>
              </a:lnSpc>
              <a:spcBef>
                <a:spcPts val="0"/>
              </a:spcBef>
              <a:spcAft>
                <a:spcPts val="0"/>
              </a:spcAft>
              <a:buNone/>
            </a:pPr>
            <a:r>
              <a:t/>
            </a:r>
            <a:endParaRPr b="1"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700">
                <a:solidFill>
                  <a:schemeClr val="dk1"/>
                </a:solidFill>
              </a:rPr>
              <a:t>Ces résultats confirment que le modèle est déjà très rapide et que la majorité des coûts provient surtout de la chaîne applicative :</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validation FastAPI</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preprocessing</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sérialisation JSON</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logging</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échanges HTTP</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700">
                <a:solidFill>
                  <a:schemeClr val="dk1"/>
                </a:solidFill>
              </a:rPr>
              <a:t>Cette analyse montre qu’une optimisation efficace doit porter sur l’ensemble du pipeline d’inférence et pas uniquement sur le modèle de machine learning.</a:t>
            </a:r>
            <a:endParaRPr sz="1700">
              <a:solidFill>
                <a:schemeClr val="dk1"/>
              </a:solidFill>
            </a:endParaRPr>
          </a:p>
          <a:p>
            <a:pPr indent="0" lvl="0" marL="0" marR="0" rtl="0" algn="l">
              <a:lnSpc>
                <a:spcPct val="100000"/>
              </a:lnSpc>
              <a:spcBef>
                <a:spcPts val="0"/>
              </a:spcBef>
              <a:spcAft>
                <a:spcPts val="0"/>
              </a:spcAft>
              <a:buNone/>
            </a:pPr>
            <a:r>
              <a:t/>
            </a:r>
            <a:endParaRPr sz="17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1" name="Shape 131"/>
        <p:cNvGrpSpPr/>
        <p:nvPr/>
      </p:nvGrpSpPr>
      <p:grpSpPr>
        <a:xfrm>
          <a:off x="0" y="0"/>
          <a:ext cx="0" cy="0"/>
          <a:chOff x="0" y="0"/>
          <a:chExt cx="0" cy="0"/>
        </a:xfrm>
      </p:grpSpPr>
      <p:sp>
        <p:nvSpPr>
          <p:cNvPr id="132" name="Google Shape;132;p19"/>
          <p:cNvSpPr/>
          <p:nvPr/>
        </p:nvSpPr>
        <p:spPr>
          <a:xfrm>
            <a:off x="457200" y="914400"/>
            <a:ext cx="8247300" cy="5303400"/>
          </a:xfrm>
          <a:prstGeom prst="roundRect">
            <a:avLst>
              <a:gd fmla="val 16667" name="adj"/>
            </a:avLst>
          </a:prstGeom>
          <a:solidFill>
            <a:srgbClr val="F8FDFC"/>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9"/>
          <p:cNvSpPr/>
          <p:nvPr/>
        </p:nvSpPr>
        <p:spPr>
          <a:xfrm>
            <a:off x="0" y="0"/>
            <a:ext cx="9144000" cy="64020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9"/>
          <p:cNvSpPr txBox="1"/>
          <p:nvPr/>
        </p:nvSpPr>
        <p:spPr>
          <a:xfrm>
            <a:off x="457200" y="137150"/>
            <a:ext cx="85488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US" sz="2800">
                <a:solidFill>
                  <a:schemeClr val="lt1"/>
                </a:solidFill>
                <a:latin typeface="Calibri"/>
                <a:ea typeface="Calibri"/>
                <a:cs typeface="Calibri"/>
                <a:sym typeface="Calibri"/>
              </a:rPr>
              <a:t>Conditions de benchmark</a:t>
            </a:r>
            <a:endParaRPr/>
          </a:p>
        </p:txBody>
      </p:sp>
      <p:sp>
        <p:nvSpPr>
          <p:cNvPr id="135" name="Google Shape;135;p19"/>
          <p:cNvSpPr txBox="1"/>
          <p:nvPr/>
        </p:nvSpPr>
        <p:spPr>
          <a:xfrm>
            <a:off x="592550" y="1259825"/>
            <a:ext cx="7975500" cy="4158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Les benchmarks ont été réalisés sur </a:t>
            </a:r>
            <a:r>
              <a:rPr b="1" lang="en-US" sz="1700">
                <a:solidFill>
                  <a:schemeClr val="dk1"/>
                </a:solidFill>
              </a:rPr>
              <a:t>300 requêtes HTTP successives</a:t>
            </a:r>
            <a:r>
              <a:rPr lang="en-US" sz="1700">
                <a:solidFill>
                  <a:schemeClr val="dk1"/>
                </a:solidFill>
              </a:rPr>
              <a:t> afin d’obtenir des mesures représentatives et comparables.</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Les tests ont été exécutés dans un environnement </a:t>
            </a:r>
            <a:r>
              <a:rPr b="1" lang="en-US" sz="1700">
                <a:solidFill>
                  <a:schemeClr val="dk1"/>
                </a:solidFill>
              </a:rPr>
              <a:t>Docker local</a:t>
            </a:r>
            <a:r>
              <a:rPr lang="en-US" sz="1700">
                <a:solidFill>
                  <a:schemeClr val="dk1"/>
                </a:solidFill>
              </a:rPr>
              <a:t>, avec l’API FastAPI déployée dans des conditions contrôlées.</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Le modèle était déjà chargé en mémoire avant les mesures afin d’éviter d’intégrer le temps de chargement disque dans les résultats.</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Aucune latence réseau externe ni charge concurrente importante n’a été simulée, afin de mesurer principalement les coûts internes du pipeline d’inférence.</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Cette méthode permet d’obtenir un benchmark reproductible et d’analyser plus précisément les facteurs qui influencent la latence globale.</a:t>
            </a:r>
            <a:endParaRPr sz="1700">
              <a:solidFill>
                <a:schemeClr val="dk1"/>
              </a:solidFill>
            </a:endParaRPr>
          </a:p>
          <a:p>
            <a:pPr indent="0" lvl="0" marL="0" marR="0" rtl="0" algn="l">
              <a:spcBef>
                <a:spcPts val="1400"/>
              </a:spcBef>
              <a:spcAft>
                <a:spcPts val="0"/>
              </a:spcAft>
              <a:buNone/>
            </a:pPr>
            <a:r>
              <a:t/>
            </a:r>
            <a:endParaRPr sz="17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9" name="Shape 139"/>
        <p:cNvGrpSpPr/>
        <p:nvPr/>
      </p:nvGrpSpPr>
      <p:grpSpPr>
        <a:xfrm>
          <a:off x="0" y="0"/>
          <a:ext cx="0" cy="0"/>
          <a:chOff x="0" y="0"/>
          <a:chExt cx="0" cy="0"/>
        </a:xfrm>
      </p:grpSpPr>
      <p:sp>
        <p:nvSpPr>
          <p:cNvPr id="140" name="Google Shape;140;p20"/>
          <p:cNvSpPr/>
          <p:nvPr/>
        </p:nvSpPr>
        <p:spPr>
          <a:xfrm>
            <a:off x="457200" y="914400"/>
            <a:ext cx="8247300" cy="5303400"/>
          </a:xfrm>
          <a:prstGeom prst="roundRect">
            <a:avLst>
              <a:gd fmla="val 16667" name="adj"/>
            </a:avLst>
          </a:prstGeom>
          <a:solidFill>
            <a:srgbClr val="F8FDFC"/>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20"/>
          <p:cNvSpPr/>
          <p:nvPr/>
        </p:nvSpPr>
        <p:spPr>
          <a:xfrm>
            <a:off x="0" y="0"/>
            <a:ext cx="9144000" cy="64020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20"/>
          <p:cNvSpPr txBox="1"/>
          <p:nvPr/>
        </p:nvSpPr>
        <p:spPr>
          <a:xfrm>
            <a:off x="457200" y="137150"/>
            <a:ext cx="85488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US" sz="2800">
                <a:solidFill>
                  <a:schemeClr val="lt1"/>
                </a:solidFill>
                <a:latin typeface="Calibri"/>
                <a:ea typeface="Calibri"/>
                <a:cs typeface="Calibri"/>
                <a:sym typeface="Calibri"/>
              </a:rPr>
              <a:t>Périmètre des métriques</a:t>
            </a:r>
            <a:endParaRPr/>
          </a:p>
        </p:txBody>
      </p:sp>
      <p:sp>
        <p:nvSpPr>
          <p:cNvPr id="143" name="Google Shape;143;p20"/>
          <p:cNvSpPr txBox="1"/>
          <p:nvPr/>
        </p:nvSpPr>
        <p:spPr>
          <a:xfrm>
            <a:off x="592550" y="1259825"/>
            <a:ext cx="7975500" cy="5054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SzPts val="1100"/>
              <a:buNone/>
            </a:pPr>
            <a:r>
              <a:rPr lang="en-US" sz="1700">
                <a:solidFill>
                  <a:schemeClr val="dk1"/>
                </a:solidFill>
              </a:rPr>
              <a:t>Trois niveaux de mesure ont été utilisés afin d’obtenir une vision précise des performances du système et d’éviter toute confusion dans l’interprétation des résultats:</a:t>
            </a:r>
            <a:endParaRPr sz="17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US" sz="1700">
                <a:solidFill>
                  <a:schemeClr val="dk1"/>
                </a:solidFill>
              </a:rPr>
              <a:t>La latence client correspond au temps total observé depuis le script de benchmark et inclut les échanges HTTP, le traitement serveur, la sérialisation JSON ainsi que le retour de réponse.</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La latence API interne mesure le temps consommé côté serveur, notamment la validation FastAPI, le preprocessing, l’exécution du pipeline d’inférence, le logging et la construction de la réponse.</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Le temps d’inférence correspond quant à lui au temps strictement utilisé par le moteur de machine learning pour produire une prédiction ici via un </a:t>
            </a:r>
            <a:r>
              <a:rPr lang="en-US" sz="1700">
                <a:solidFill>
                  <a:schemeClr val="dk1"/>
                </a:solidFill>
              </a:rPr>
              <a:t>modèle</a:t>
            </a:r>
            <a:r>
              <a:rPr lang="en-US" sz="1700">
                <a:solidFill>
                  <a:schemeClr val="dk1"/>
                </a:solidFill>
              </a:rPr>
              <a:t> sklearn.</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Cette séparation permet d’identifier précisément les coûts liés au modèle et ceux provoqués par l’architecture applicative globale.</a:t>
            </a:r>
            <a:endParaRPr sz="1700">
              <a:solidFill>
                <a:schemeClr val="dk1"/>
              </a:solidFill>
            </a:endParaRPr>
          </a:p>
          <a:p>
            <a:pPr indent="0" lvl="0" marL="0" marR="0" rtl="0" algn="l">
              <a:spcBef>
                <a:spcPts val="1400"/>
              </a:spcBef>
              <a:spcAft>
                <a:spcPts val="0"/>
              </a:spcAft>
              <a:buNone/>
            </a:pPr>
            <a:r>
              <a:t/>
            </a:r>
            <a:endParaRPr sz="17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7" name="Shape 147"/>
        <p:cNvGrpSpPr/>
        <p:nvPr/>
      </p:nvGrpSpPr>
      <p:grpSpPr>
        <a:xfrm>
          <a:off x="0" y="0"/>
          <a:ext cx="0" cy="0"/>
          <a:chOff x="0" y="0"/>
          <a:chExt cx="0" cy="0"/>
        </a:xfrm>
      </p:grpSpPr>
      <p:sp>
        <p:nvSpPr>
          <p:cNvPr id="148" name="Google Shape;148;p21"/>
          <p:cNvSpPr/>
          <p:nvPr/>
        </p:nvSpPr>
        <p:spPr>
          <a:xfrm>
            <a:off x="0" y="0"/>
            <a:ext cx="9144000" cy="64020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21"/>
          <p:cNvSpPr txBox="1"/>
          <p:nvPr/>
        </p:nvSpPr>
        <p:spPr>
          <a:xfrm>
            <a:off x="457200" y="137150"/>
            <a:ext cx="85488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800">
                <a:solidFill>
                  <a:schemeClr val="lt1"/>
                </a:solidFill>
                <a:latin typeface="Calibri"/>
                <a:ea typeface="Calibri"/>
                <a:cs typeface="Calibri"/>
                <a:sym typeface="Calibri"/>
              </a:rPr>
              <a:t>Résultats des scripts </a:t>
            </a:r>
            <a:endParaRPr/>
          </a:p>
        </p:txBody>
      </p:sp>
      <p:sp>
        <p:nvSpPr>
          <p:cNvPr id="150" name="Google Shape;150;p21"/>
          <p:cNvSpPr txBox="1"/>
          <p:nvPr/>
        </p:nvSpPr>
        <p:spPr>
          <a:xfrm>
            <a:off x="592550" y="1259825"/>
            <a:ext cx="7975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1400"/>
              </a:spcBef>
              <a:spcAft>
                <a:spcPts val="0"/>
              </a:spcAft>
              <a:buNone/>
            </a:pPr>
            <a:r>
              <a:t/>
            </a:r>
            <a:endParaRPr sz="1700">
              <a:solidFill>
                <a:srgbClr val="282828"/>
              </a:solidFill>
            </a:endParaRPr>
          </a:p>
        </p:txBody>
      </p:sp>
      <p:pic>
        <p:nvPicPr>
          <p:cNvPr id="151" name="Google Shape;151;p21"/>
          <p:cNvPicPr preferRelativeResize="0"/>
          <p:nvPr/>
        </p:nvPicPr>
        <p:blipFill>
          <a:blip r:embed="rId3">
            <a:alphaModFix/>
          </a:blip>
          <a:stretch>
            <a:fillRect/>
          </a:stretch>
        </p:blipFill>
        <p:spPr>
          <a:xfrm>
            <a:off x="160700" y="837250"/>
            <a:ext cx="8839197" cy="1903827"/>
          </a:xfrm>
          <a:prstGeom prst="rect">
            <a:avLst/>
          </a:prstGeom>
          <a:noFill/>
          <a:ln>
            <a:noFill/>
          </a:ln>
        </p:spPr>
      </p:pic>
      <p:pic>
        <p:nvPicPr>
          <p:cNvPr id="152" name="Google Shape;152;p21"/>
          <p:cNvPicPr preferRelativeResize="0"/>
          <p:nvPr/>
        </p:nvPicPr>
        <p:blipFill>
          <a:blip r:embed="rId4">
            <a:alphaModFix/>
          </a:blip>
          <a:stretch>
            <a:fillRect/>
          </a:stretch>
        </p:blipFill>
        <p:spPr>
          <a:xfrm>
            <a:off x="152400" y="2893477"/>
            <a:ext cx="8839201" cy="2024299"/>
          </a:xfrm>
          <a:prstGeom prst="rect">
            <a:avLst/>
          </a:prstGeom>
          <a:noFill/>
          <a:ln>
            <a:noFill/>
          </a:ln>
        </p:spPr>
      </p:pic>
      <p:pic>
        <p:nvPicPr>
          <p:cNvPr id="153" name="Google Shape;153;p21"/>
          <p:cNvPicPr preferRelativeResize="0"/>
          <p:nvPr/>
        </p:nvPicPr>
        <p:blipFill>
          <a:blip r:embed="rId5">
            <a:alphaModFix/>
          </a:blip>
          <a:stretch>
            <a:fillRect/>
          </a:stretch>
        </p:blipFill>
        <p:spPr>
          <a:xfrm>
            <a:off x="152400" y="5070175"/>
            <a:ext cx="8839201" cy="1635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7" name="Shape 157"/>
        <p:cNvGrpSpPr/>
        <p:nvPr/>
      </p:nvGrpSpPr>
      <p:grpSpPr>
        <a:xfrm>
          <a:off x="0" y="0"/>
          <a:ext cx="0" cy="0"/>
          <a:chOff x="0" y="0"/>
          <a:chExt cx="0" cy="0"/>
        </a:xfrm>
      </p:grpSpPr>
      <p:sp>
        <p:nvSpPr>
          <p:cNvPr id="158" name="Google Shape;158;p22"/>
          <p:cNvSpPr/>
          <p:nvPr/>
        </p:nvSpPr>
        <p:spPr>
          <a:xfrm>
            <a:off x="457200" y="914400"/>
            <a:ext cx="8247300" cy="5303400"/>
          </a:xfrm>
          <a:prstGeom prst="roundRect">
            <a:avLst>
              <a:gd fmla="val 16667" name="adj"/>
            </a:avLst>
          </a:prstGeom>
          <a:solidFill>
            <a:srgbClr val="F8FDFC"/>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22"/>
          <p:cNvSpPr/>
          <p:nvPr/>
        </p:nvSpPr>
        <p:spPr>
          <a:xfrm>
            <a:off x="0" y="0"/>
            <a:ext cx="9144000" cy="64020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22"/>
          <p:cNvSpPr txBox="1"/>
          <p:nvPr/>
        </p:nvSpPr>
        <p:spPr>
          <a:xfrm>
            <a:off x="457200" y="137150"/>
            <a:ext cx="85488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800">
                <a:solidFill>
                  <a:schemeClr val="lt1"/>
                </a:solidFill>
                <a:latin typeface="Calibri"/>
                <a:ea typeface="Calibri"/>
                <a:cs typeface="Calibri"/>
                <a:sym typeface="Calibri"/>
              </a:rPr>
              <a:t>Analyse des resultats</a:t>
            </a:r>
            <a:endParaRPr/>
          </a:p>
        </p:txBody>
      </p:sp>
      <p:sp>
        <p:nvSpPr>
          <p:cNvPr id="161" name="Google Shape;161;p22"/>
          <p:cNvSpPr txBox="1"/>
          <p:nvPr/>
        </p:nvSpPr>
        <p:spPr>
          <a:xfrm>
            <a:off x="592550" y="1259825"/>
            <a:ext cx="7975500" cy="50640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chemeClr val="dk1"/>
              </a:buClr>
              <a:buSzPts val="1100"/>
              <a:buFont typeface="Arial"/>
              <a:buNone/>
            </a:pPr>
            <a:r>
              <a:rPr lang="en-US" sz="1700">
                <a:solidFill>
                  <a:schemeClr val="dk1"/>
                </a:solidFill>
              </a:rPr>
              <a:t>Les résultats du benchmark </a:t>
            </a:r>
            <a:r>
              <a:rPr b="1" lang="en-US" sz="1700">
                <a:solidFill>
                  <a:schemeClr val="dk1"/>
                </a:solidFill>
              </a:rPr>
              <a:t>sklearn</a:t>
            </a:r>
            <a:r>
              <a:rPr lang="en-US" sz="1700">
                <a:solidFill>
                  <a:schemeClr val="dk1"/>
                </a:solidFill>
              </a:rPr>
              <a:t> montrent un système globalement stable, avec une majorité des requêtes situées autour de </a:t>
            </a:r>
            <a:r>
              <a:rPr b="1" lang="en-US" sz="1700">
                <a:solidFill>
                  <a:schemeClr val="dk1"/>
                </a:solidFill>
              </a:rPr>
              <a:t>35 à 45 ms</a:t>
            </a:r>
            <a:r>
              <a:rPr lang="en-US" sz="1700">
                <a:solidFill>
                  <a:schemeClr val="dk1"/>
                </a:solidFill>
              </a:rPr>
              <a:t> côté client.</a:t>
            </a:r>
            <a:endParaRPr sz="1700">
              <a:solidFill>
                <a:schemeClr val="dk1"/>
              </a:solidFill>
            </a:endParaRPr>
          </a:p>
          <a:p>
            <a:pPr indent="0" lvl="0" marL="0" rtl="0" algn="l">
              <a:lnSpc>
                <a:spcPct val="100000"/>
              </a:lnSpc>
              <a:spcBef>
                <a:spcPts val="0"/>
              </a:spcBef>
              <a:spcAft>
                <a:spcPts val="0"/>
              </a:spcAft>
              <a:buSzPts val="1100"/>
              <a:buNone/>
            </a:pPr>
            <a:r>
              <a:rPr lang="en-US" sz="1700">
                <a:solidFill>
                  <a:schemeClr val="dk1"/>
                </a:solidFill>
              </a:rPr>
              <a:t>On observe :</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Quelques pics ponctuels au-dessus de </a:t>
            </a:r>
            <a:r>
              <a:rPr b="1" lang="en-US" sz="1700">
                <a:solidFill>
                  <a:schemeClr val="dk1"/>
                </a:solidFill>
              </a:rPr>
              <a:t>100 ms</a:t>
            </a:r>
            <a:r>
              <a:rPr lang="en-US" sz="1700">
                <a:solidFill>
                  <a:schemeClr val="dk1"/>
                </a:solidFill>
              </a:rPr>
              <a:t>, notamment autour de 112 à 136 ms qui impactent surtout les métriques de queue de distribution comme le </a:t>
            </a:r>
            <a:r>
              <a:rPr b="1" lang="en-US" sz="1700">
                <a:solidFill>
                  <a:schemeClr val="dk1"/>
                </a:solidFill>
              </a:rPr>
              <a:t>P95</a:t>
            </a:r>
            <a:r>
              <a:rPr lang="en-US" sz="1700">
                <a:solidFill>
                  <a:schemeClr val="dk1"/>
                </a:solidFill>
              </a:rPr>
              <a:t> et le </a:t>
            </a:r>
            <a:r>
              <a:rPr b="1" lang="en-US" sz="1700">
                <a:solidFill>
                  <a:schemeClr val="dk1"/>
                </a:solidFill>
              </a:rPr>
              <a:t>P99</a:t>
            </a:r>
            <a:r>
              <a:rPr lang="en-US" sz="1700">
                <a:solidFill>
                  <a:schemeClr val="dk1"/>
                </a:solidFill>
              </a:rPr>
              <a:t>, même si la majorité des appels reste rapide.</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Une latence API interne beaucoup plus faible, généralement autour de </a:t>
            </a:r>
            <a:r>
              <a:rPr b="1" lang="en-US" sz="1700">
                <a:solidFill>
                  <a:schemeClr val="dk1"/>
                </a:solidFill>
              </a:rPr>
              <a:t>7 à 9 ms</a:t>
            </a:r>
            <a:r>
              <a:rPr lang="en-US" sz="1700">
                <a:solidFill>
                  <a:schemeClr val="dk1"/>
                </a:solidFill>
              </a:rPr>
              <a:t>, avec quelques hausses ponctuelles autour de </a:t>
            </a:r>
            <a:r>
              <a:rPr b="1" lang="en-US" sz="1700">
                <a:solidFill>
                  <a:schemeClr val="dk1"/>
                </a:solidFill>
              </a:rPr>
              <a:t>15 à 21 ms</a:t>
            </a:r>
            <a:r>
              <a:rPr lang="en-US" sz="1700">
                <a:solidFill>
                  <a:schemeClr val="dk1"/>
                </a:solidFill>
              </a:rPr>
              <a:t>.</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700">
                <a:solidFill>
                  <a:schemeClr val="dk1"/>
                </a:solidFill>
              </a:rPr>
              <a:t>Cela montre que le temps réellement consommé côté serveur est limité par rapport à la latence totale mesurée côté client.</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700">
                <a:solidFill>
                  <a:schemeClr val="dk1"/>
                </a:solidFill>
              </a:rPr>
              <a:t>L’écart entre la latence client et la latence API indique que les coûts principaux viennent surtout </a:t>
            </a:r>
            <a:r>
              <a:rPr b="1" lang="en-US" sz="1700">
                <a:solidFill>
                  <a:schemeClr val="dk1"/>
                </a:solidFill>
              </a:rPr>
              <a:t>des échanges HTTP, de la sérialisation, du transport local et des traitements périphériques.</a:t>
            </a:r>
            <a:endParaRPr b="1"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700">
                <a:solidFill>
                  <a:schemeClr val="dk1"/>
                </a:solidFill>
              </a:rPr>
              <a:t>Le modèle sklearn répond donc correctement, mais l’analyse met en évidence une variabilité plus forte sur certains appels. Ces résultats servent de référence avant optimisation et permettent de comparer l’impact d’ONNX Runtime ainsi que des optimisations applicatives.</a:t>
            </a:r>
            <a:endParaRPr sz="1700">
              <a:solidFill>
                <a:schemeClr val="dk1"/>
              </a:solidFill>
            </a:endParaRPr>
          </a:p>
          <a:p>
            <a:pPr indent="0" lvl="0" marL="0" marR="0" rtl="0" algn="l">
              <a:lnSpc>
                <a:spcPct val="100000"/>
              </a:lnSpc>
              <a:spcBef>
                <a:spcPts val="0"/>
              </a:spcBef>
              <a:spcAft>
                <a:spcPts val="0"/>
              </a:spcAft>
              <a:buNone/>
            </a:pPr>
            <a:r>
              <a:t/>
            </a:r>
            <a:endParaRPr sz="17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5" name="Shape 165"/>
        <p:cNvGrpSpPr/>
        <p:nvPr/>
      </p:nvGrpSpPr>
      <p:grpSpPr>
        <a:xfrm>
          <a:off x="0" y="0"/>
          <a:ext cx="0" cy="0"/>
          <a:chOff x="0" y="0"/>
          <a:chExt cx="0" cy="0"/>
        </a:xfrm>
      </p:grpSpPr>
      <p:sp>
        <p:nvSpPr>
          <p:cNvPr id="166" name="Google Shape;166;p23"/>
          <p:cNvSpPr/>
          <p:nvPr/>
        </p:nvSpPr>
        <p:spPr>
          <a:xfrm>
            <a:off x="0" y="0"/>
            <a:ext cx="9144000" cy="64008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23"/>
          <p:cNvSpPr txBox="1"/>
          <p:nvPr/>
        </p:nvSpPr>
        <p:spPr>
          <a:xfrm>
            <a:off x="396775" y="91447"/>
            <a:ext cx="10058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168" name="Google Shape;168;p23"/>
          <p:cNvSpPr txBox="1"/>
          <p:nvPr/>
        </p:nvSpPr>
        <p:spPr>
          <a:xfrm>
            <a:off x="822960" y="1463040"/>
            <a:ext cx="9875400" cy="354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SzPts val="1100"/>
              <a:buNone/>
            </a:pPr>
            <a:r>
              <a:t/>
            </a:r>
            <a:endParaRPr sz="1700"/>
          </a:p>
        </p:txBody>
      </p:sp>
      <p:pic>
        <p:nvPicPr>
          <p:cNvPr id="169" name="Google Shape;169;p23"/>
          <p:cNvPicPr preferRelativeResize="0"/>
          <p:nvPr/>
        </p:nvPicPr>
        <p:blipFill>
          <a:blip r:embed="rId3">
            <a:alphaModFix/>
          </a:blip>
          <a:stretch>
            <a:fillRect/>
          </a:stretch>
        </p:blipFill>
        <p:spPr>
          <a:xfrm>
            <a:off x="152400" y="844999"/>
            <a:ext cx="8839199" cy="2124975"/>
          </a:xfrm>
          <a:prstGeom prst="rect">
            <a:avLst/>
          </a:prstGeom>
          <a:noFill/>
          <a:ln>
            <a:noFill/>
          </a:ln>
        </p:spPr>
      </p:pic>
      <p:pic>
        <p:nvPicPr>
          <p:cNvPr id="170" name="Google Shape;170;p23"/>
          <p:cNvPicPr preferRelativeResize="0"/>
          <p:nvPr/>
        </p:nvPicPr>
        <p:blipFill>
          <a:blip r:embed="rId4">
            <a:alphaModFix/>
          </a:blip>
          <a:stretch>
            <a:fillRect/>
          </a:stretch>
        </p:blipFill>
        <p:spPr>
          <a:xfrm>
            <a:off x="152400" y="3024625"/>
            <a:ext cx="8839201" cy="2021875"/>
          </a:xfrm>
          <a:prstGeom prst="rect">
            <a:avLst/>
          </a:prstGeom>
          <a:noFill/>
          <a:ln>
            <a:noFill/>
          </a:ln>
        </p:spPr>
      </p:pic>
      <p:pic>
        <p:nvPicPr>
          <p:cNvPr id="171" name="Google Shape;171;p23"/>
          <p:cNvPicPr preferRelativeResize="0"/>
          <p:nvPr/>
        </p:nvPicPr>
        <p:blipFill>
          <a:blip r:embed="rId5">
            <a:alphaModFix/>
          </a:blip>
          <a:stretch>
            <a:fillRect/>
          </a:stretch>
        </p:blipFill>
        <p:spPr>
          <a:xfrm>
            <a:off x="97750" y="4937225"/>
            <a:ext cx="8893850" cy="1719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5" name="Shape 175"/>
        <p:cNvGrpSpPr/>
        <p:nvPr/>
      </p:nvGrpSpPr>
      <p:grpSpPr>
        <a:xfrm>
          <a:off x="0" y="0"/>
          <a:ext cx="0" cy="0"/>
          <a:chOff x="0" y="0"/>
          <a:chExt cx="0" cy="0"/>
        </a:xfrm>
      </p:grpSpPr>
      <p:sp>
        <p:nvSpPr>
          <p:cNvPr id="176" name="Google Shape;176;p24"/>
          <p:cNvSpPr/>
          <p:nvPr/>
        </p:nvSpPr>
        <p:spPr>
          <a:xfrm>
            <a:off x="457200" y="914400"/>
            <a:ext cx="8247300" cy="5303400"/>
          </a:xfrm>
          <a:prstGeom prst="roundRect">
            <a:avLst>
              <a:gd fmla="val 16667" name="adj"/>
            </a:avLst>
          </a:prstGeom>
          <a:solidFill>
            <a:srgbClr val="F8FDFC"/>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24"/>
          <p:cNvSpPr/>
          <p:nvPr/>
        </p:nvSpPr>
        <p:spPr>
          <a:xfrm>
            <a:off x="0" y="0"/>
            <a:ext cx="9144000" cy="64020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24"/>
          <p:cNvSpPr txBox="1"/>
          <p:nvPr/>
        </p:nvSpPr>
        <p:spPr>
          <a:xfrm>
            <a:off x="457200" y="137150"/>
            <a:ext cx="85488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800">
                <a:solidFill>
                  <a:schemeClr val="lt1"/>
                </a:solidFill>
                <a:latin typeface="Calibri"/>
                <a:ea typeface="Calibri"/>
                <a:cs typeface="Calibri"/>
                <a:sym typeface="Calibri"/>
              </a:rPr>
              <a:t>Analyse des resultats</a:t>
            </a:r>
            <a:endParaRPr/>
          </a:p>
        </p:txBody>
      </p:sp>
      <p:sp>
        <p:nvSpPr>
          <p:cNvPr id="179" name="Google Shape;179;p24"/>
          <p:cNvSpPr txBox="1"/>
          <p:nvPr/>
        </p:nvSpPr>
        <p:spPr>
          <a:xfrm>
            <a:off x="592550" y="1259825"/>
            <a:ext cx="7975500" cy="5143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Le passage à ONNX Runtime permet une amélioration légère du temps global mesuré lors du profiling. Le temps total passe d’environ </a:t>
            </a:r>
            <a:r>
              <a:rPr b="1" lang="en-US" sz="1700">
                <a:solidFill>
                  <a:schemeClr val="dk1"/>
                </a:solidFill>
              </a:rPr>
              <a:t>4.84 s</a:t>
            </a:r>
            <a:r>
              <a:rPr lang="en-US" sz="1700">
                <a:solidFill>
                  <a:schemeClr val="dk1"/>
                </a:solidFill>
              </a:rPr>
              <a:t> à </a:t>
            </a:r>
            <a:r>
              <a:rPr b="1" lang="en-US" sz="1700">
                <a:solidFill>
                  <a:schemeClr val="dk1"/>
                </a:solidFill>
              </a:rPr>
              <a:t>4.67 s</a:t>
            </a:r>
            <a:r>
              <a:rPr lang="en-US" sz="1700">
                <a:solidFill>
                  <a:schemeClr val="dk1"/>
                </a:solidFill>
              </a:rPr>
              <a:t> pour 100 appels, soit un gain d’environ </a:t>
            </a:r>
            <a:r>
              <a:rPr b="1" lang="en-US" sz="1700">
                <a:solidFill>
                  <a:schemeClr val="dk1"/>
                </a:solidFill>
              </a:rPr>
              <a:t>3.4 %</a:t>
            </a:r>
            <a:r>
              <a:rPr lang="en-US" sz="1700">
                <a:solidFill>
                  <a:schemeClr val="dk1"/>
                </a:solidFill>
              </a:rPr>
              <a:t> sur cette campagne.</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Cependant, les fonctions les plus coûteuses restent liées aux échanges HTTP : </a:t>
            </a:r>
            <a:r>
              <a:rPr lang="en-US" sz="1700">
                <a:solidFill>
                  <a:srgbClr val="188038"/>
                </a:solidFill>
              </a:rPr>
              <a:t>requests</a:t>
            </a:r>
            <a:r>
              <a:rPr lang="en-US" sz="1700">
                <a:solidFill>
                  <a:schemeClr val="dk1"/>
                </a:solidFill>
              </a:rPr>
              <a:t>, </a:t>
            </a:r>
            <a:r>
              <a:rPr lang="en-US" sz="1700">
                <a:solidFill>
                  <a:srgbClr val="188038"/>
                </a:solidFill>
              </a:rPr>
              <a:t>urllib3</a:t>
            </a:r>
            <a:r>
              <a:rPr lang="en-US" sz="1700">
                <a:solidFill>
                  <a:schemeClr val="dk1"/>
                </a:solidFill>
              </a:rPr>
              <a:t>, </a:t>
            </a:r>
            <a:r>
              <a:rPr lang="en-US" sz="1700">
                <a:solidFill>
                  <a:srgbClr val="188038"/>
                </a:solidFill>
              </a:rPr>
              <a:t>http.client</a:t>
            </a:r>
            <a:r>
              <a:rPr lang="en-US" sz="1700">
                <a:solidFill>
                  <a:schemeClr val="dk1"/>
                </a:solidFill>
              </a:rPr>
              <a:t> et surtout </a:t>
            </a:r>
            <a:r>
              <a:rPr lang="en-US" sz="1700">
                <a:solidFill>
                  <a:srgbClr val="188038"/>
                </a:solidFill>
              </a:rPr>
              <a:t>socket.recv_into</a:t>
            </a:r>
            <a:r>
              <a:rPr lang="en-US" sz="1700">
                <a:solidFill>
                  <a:schemeClr val="dk1"/>
                </a:solidFill>
              </a:rPr>
              <a:t>. Cela confirme que le backend d’inférence n’est pas le principal facteur limitant du système.</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ONNX améliore légèrement le comportement global, mais le gain reste dilué dans la latence totale car une grande partie du temps est consommée par la chaîne applicative : transport HTTP, sérialisation, validation, logging et construction de la réponse.</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La conclusion est donc cohérente : </a:t>
            </a:r>
            <a:r>
              <a:rPr b="1" lang="en-US" sz="1700">
                <a:solidFill>
                  <a:schemeClr val="dk1"/>
                </a:solidFill>
              </a:rPr>
              <a:t>ONNX apporte un gain mesurable mais limité, tandis que les principaux leviers d’optimisation se situent surtout dans l’architecture applicative et le pipeline API complet.</a:t>
            </a:r>
            <a:endParaRPr b="1" sz="1700">
              <a:solidFill>
                <a:schemeClr val="dk1"/>
              </a:solidFill>
            </a:endParaRPr>
          </a:p>
          <a:p>
            <a:pPr indent="0" lvl="0" marL="0" rtl="0" algn="l">
              <a:lnSpc>
                <a:spcPct val="100000"/>
              </a:lnSpc>
              <a:spcBef>
                <a:spcPts val="1200"/>
              </a:spcBef>
              <a:spcAft>
                <a:spcPts val="0"/>
              </a:spcAft>
              <a:buSzPts val="1100"/>
              <a:buNone/>
            </a:pPr>
            <a:r>
              <a:t/>
            </a:r>
            <a:endParaRPr sz="1700">
              <a:solidFill>
                <a:schemeClr val="dk1"/>
              </a:solidFill>
            </a:endParaRPr>
          </a:p>
          <a:p>
            <a:pPr indent="0" lvl="0" marL="0" marR="0" rtl="0" algn="l">
              <a:lnSpc>
                <a:spcPct val="100000"/>
              </a:lnSpc>
              <a:spcBef>
                <a:spcPts val="0"/>
              </a:spcBef>
              <a:spcAft>
                <a:spcPts val="0"/>
              </a:spcAft>
              <a:buNone/>
            </a:pPr>
            <a:r>
              <a:t/>
            </a:r>
            <a:endParaRPr sz="17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3" name="Shape 183"/>
        <p:cNvGrpSpPr/>
        <p:nvPr/>
      </p:nvGrpSpPr>
      <p:grpSpPr>
        <a:xfrm>
          <a:off x="0" y="0"/>
          <a:ext cx="0" cy="0"/>
          <a:chOff x="0" y="0"/>
          <a:chExt cx="0" cy="0"/>
        </a:xfrm>
      </p:grpSpPr>
      <p:sp>
        <p:nvSpPr>
          <p:cNvPr id="184" name="Google Shape;184;p25"/>
          <p:cNvSpPr/>
          <p:nvPr/>
        </p:nvSpPr>
        <p:spPr>
          <a:xfrm>
            <a:off x="457200" y="914400"/>
            <a:ext cx="8247300" cy="5303400"/>
          </a:xfrm>
          <a:prstGeom prst="roundRect">
            <a:avLst>
              <a:gd fmla="val 16667" name="adj"/>
            </a:avLst>
          </a:prstGeom>
          <a:solidFill>
            <a:srgbClr val="F8FDFC"/>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25"/>
          <p:cNvSpPr/>
          <p:nvPr/>
        </p:nvSpPr>
        <p:spPr>
          <a:xfrm>
            <a:off x="0" y="0"/>
            <a:ext cx="9144000" cy="64020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25"/>
          <p:cNvSpPr txBox="1"/>
          <p:nvPr/>
        </p:nvSpPr>
        <p:spPr>
          <a:xfrm>
            <a:off x="457200" y="137150"/>
            <a:ext cx="85488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US" sz="2800">
                <a:solidFill>
                  <a:schemeClr val="lt1"/>
                </a:solidFill>
                <a:latin typeface="Calibri"/>
                <a:ea typeface="Calibri"/>
                <a:cs typeface="Calibri"/>
                <a:sym typeface="Calibri"/>
              </a:rPr>
              <a:t>Optimisations mises en place</a:t>
            </a:r>
            <a:endParaRPr/>
          </a:p>
        </p:txBody>
      </p:sp>
      <p:sp>
        <p:nvSpPr>
          <p:cNvPr id="187" name="Google Shape;187;p25"/>
          <p:cNvSpPr txBox="1"/>
          <p:nvPr/>
        </p:nvSpPr>
        <p:spPr>
          <a:xfrm>
            <a:off x="592550" y="1259825"/>
            <a:ext cx="7975500" cy="4888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Plusieurs optimisations ont été mises en place afin de réduire les traitements inutiles et stabiliser les temps de réponse de l’API.</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Le modèle ainsi que le seuil métier sont chargés une seule fois au démarrage, puis conservés en mémoire pour éviter les accès disque à chaque prédiction.</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Les transformations de données ont été simplifiées afin de limiter les traitements pandas coûteux pendant l’inférence.</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Les features sont converties en </a:t>
            </a:r>
            <a:r>
              <a:rPr lang="en-US" sz="1700">
                <a:solidFill>
                  <a:srgbClr val="188038"/>
                </a:solidFill>
              </a:rPr>
              <a:t>float32</a:t>
            </a:r>
            <a:r>
              <a:rPr lang="en-US" sz="1700">
                <a:solidFill>
                  <a:schemeClr val="dk1"/>
                </a:solidFill>
              </a:rPr>
              <a:t>, un format plus adapté à l’exécution ONNX Runtime.</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Les logs applicatifs ont été allégés pour conserver la traçabilité sans dégrader inutilement la latence.</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Ces optimisations permettent de rendre le pipeline d’inférence plus rapide, plus stable et mieux adapté à un usage MLOps en production.</a:t>
            </a:r>
            <a:endParaRPr sz="1700">
              <a:solidFill>
                <a:schemeClr val="dk1"/>
              </a:solidFill>
            </a:endParaRPr>
          </a:p>
          <a:p>
            <a:pPr indent="0" lvl="0" marL="0" marR="0" rtl="0" algn="l">
              <a:lnSpc>
                <a:spcPct val="100000"/>
              </a:lnSpc>
              <a:spcBef>
                <a:spcPts val="1200"/>
              </a:spcBef>
              <a:spcAft>
                <a:spcPts val="0"/>
              </a:spcAft>
              <a:buNone/>
            </a:pPr>
            <a:r>
              <a:t/>
            </a:r>
            <a:endParaRPr sz="17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1" name="Shape 191"/>
        <p:cNvGrpSpPr/>
        <p:nvPr/>
      </p:nvGrpSpPr>
      <p:grpSpPr>
        <a:xfrm>
          <a:off x="0" y="0"/>
          <a:ext cx="0" cy="0"/>
          <a:chOff x="0" y="0"/>
          <a:chExt cx="0" cy="0"/>
        </a:xfrm>
      </p:grpSpPr>
      <p:sp>
        <p:nvSpPr>
          <p:cNvPr id="192" name="Google Shape;192;p26"/>
          <p:cNvSpPr/>
          <p:nvPr/>
        </p:nvSpPr>
        <p:spPr>
          <a:xfrm>
            <a:off x="0" y="0"/>
            <a:ext cx="9144000" cy="64020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26"/>
          <p:cNvSpPr txBox="1"/>
          <p:nvPr/>
        </p:nvSpPr>
        <p:spPr>
          <a:xfrm>
            <a:off x="396775" y="91447"/>
            <a:ext cx="10058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194" name="Google Shape;194;p26"/>
          <p:cNvSpPr txBox="1"/>
          <p:nvPr/>
        </p:nvSpPr>
        <p:spPr>
          <a:xfrm>
            <a:off x="822960" y="1463040"/>
            <a:ext cx="9875400" cy="354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SzPts val="1100"/>
              <a:buNone/>
            </a:pPr>
            <a:r>
              <a:t/>
            </a:r>
            <a:endParaRPr sz="1700"/>
          </a:p>
        </p:txBody>
      </p:sp>
      <p:pic>
        <p:nvPicPr>
          <p:cNvPr id="195" name="Google Shape;195;p26"/>
          <p:cNvPicPr preferRelativeResize="0"/>
          <p:nvPr/>
        </p:nvPicPr>
        <p:blipFill>
          <a:blip r:embed="rId3">
            <a:alphaModFix/>
          </a:blip>
          <a:stretch>
            <a:fillRect/>
          </a:stretch>
        </p:blipFill>
        <p:spPr>
          <a:xfrm>
            <a:off x="84100" y="712590"/>
            <a:ext cx="8839201" cy="1717536"/>
          </a:xfrm>
          <a:prstGeom prst="rect">
            <a:avLst/>
          </a:prstGeom>
          <a:noFill/>
          <a:ln>
            <a:noFill/>
          </a:ln>
        </p:spPr>
      </p:pic>
      <p:pic>
        <p:nvPicPr>
          <p:cNvPr id="196" name="Google Shape;196;p26"/>
          <p:cNvPicPr preferRelativeResize="0"/>
          <p:nvPr/>
        </p:nvPicPr>
        <p:blipFill>
          <a:blip r:embed="rId4">
            <a:alphaModFix/>
          </a:blip>
          <a:stretch>
            <a:fillRect/>
          </a:stretch>
        </p:blipFill>
        <p:spPr>
          <a:xfrm>
            <a:off x="152400" y="2506326"/>
            <a:ext cx="8839200" cy="1922585"/>
          </a:xfrm>
          <a:prstGeom prst="rect">
            <a:avLst/>
          </a:prstGeom>
          <a:noFill/>
          <a:ln>
            <a:noFill/>
          </a:ln>
        </p:spPr>
      </p:pic>
      <p:pic>
        <p:nvPicPr>
          <p:cNvPr id="197" name="Google Shape;197;p26"/>
          <p:cNvPicPr preferRelativeResize="0"/>
          <p:nvPr/>
        </p:nvPicPr>
        <p:blipFill>
          <a:blip r:embed="rId5">
            <a:alphaModFix/>
          </a:blip>
          <a:stretch>
            <a:fillRect/>
          </a:stretch>
        </p:blipFill>
        <p:spPr>
          <a:xfrm>
            <a:off x="152400" y="4581300"/>
            <a:ext cx="8770900" cy="2124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1" name="Shape 201"/>
        <p:cNvGrpSpPr/>
        <p:nvPr/>
      </p:nvGrpSpPr>
      <p:grpSpPr>
        <a:xfrm>
          <a:off x="0" y="0"/>
          <a:ext cx="0" cy="0"/>
          <a:chOff x="0" y="0"/>
          <a:chExt cx="0" cy="0"/>
        </a:xfrm>
      </p:grpSpPr>
      <p:sp>
        <p:nvSpPr>
          <p:cNvPr id="202" name="Google Shape;202;p27"/>
          <p:cNvSpPr/>
          <p:nvPr/>
        </p:nvSpPr>
        <p:spPr>
          <a:xfrm>
            <a:off x="457200" y="914400"/>
            <a:ext cx="8247300" cy="5303400"/>
          </a:xfrm>
          <a:prstGeom prst="roundRect">
            <a:avLst>
              <a:gd fmla="val 16667" name="adj"/>
            </a:avLst>
          </a:prstGeom>
          <a:solidFill>
            <a:srgbClr val="F8FDFC"/>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27"/>
          <p:cNvSpPr/>
          <p:nvPr/>
        </p:nvSpPr>
        <p:spPr>
          <a:xfrm>
            <a:off x="0" y="0"/>
            <a:ext cx="9144000" cy="64020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27"/>
          <p:cNvSpPr txBox="1"/>
          <p:nvPr/>
        </p:nvSpPr>
        <p:spPr>
          <a:xfrm>
            <a:off x="457200" y="137150"/>
            <a:ext cx="85488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800">
                <a:solidFill>
                  <a:schemeClr val="lt1"/>
                </a:solidFill>
                <a:latin typeface="Calibri"/>
                <a:ea typeface="Calibri"/>
                <a:cs typeface="Calibri"/>
                <a:sym typeface="Calibri"/>
              </a:rPr>
              <a:t>Analyse des resultats</a:t>
            </a:r>
            <a:endParaRPr/>
          </a:p>
        </p:txBody>
      </p:sp>
      <p:sp>
        <p:nvSpPr>
          <p:cNvPr id="205" name="Google Shape;205;p27"/>
          <p:cNvSpPr txBox="1"/>
          <p:nvPr/>
        </p:nvSpPr>
        <p:spPr>
          <a:xfrm>
            <a:off x="592550" y="1259825"/>
            <a:ext cx="7975500" cy="48024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SzPts val="1100"/>
              <a:buNone/>
            </a:pPr>
            <a:r>
              <a:rPr lang="en-US" sz="1700">
                <a:solidFill>
                  <a:schemeClr val="dk1"/>
                </a:solidFill>
              </a:rPr>
              <a:t>Après les optimisations, les performances globales s’améliorent nettement:</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Sur le profiling, le temps total passe à environ </a:t>
            </a:r>
            <a:r>
              <a:rPr b="1" lang="en-US" sz="1700">
                <a:solidFill>
                  <a:schemeClr val="dk1"/>
                </a:solidFill>
              </a:rPr>
              <a:t>3.94 secondes pour 100 appels HTTP</a:t>
            </a:r>
            <a:r>
              <a:rPr lang="en-US" sz="1700">
                <a:solidFill>
                  <a:schemeClr val="dk1"/>
                </a:solidFill>
              </a:rPr>
              <a:t>, soit environ </a:t>
            </a:r>
            <a:r>
              <a:rPr b="1" lang="en-US" sz="1700">
                <a:solidFill>
                  <a:schemeClr val="dk1"/>
                </a:solidFill>
              </a:rPr>
              <a:t>39 ms par requête</a:t>
            </a:r>
            <a:r>
              <a:rPr lang="en-US" sz="1700">
                <a:solidFill>
                  <a:schemeClr val="dk1"/>
                </a:solidFill>
              </a:rPr>
              <a:t>.</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La majorité du temps reste consommée par les échanges HTTP, notamment </a:t>
            </a:r>
            <a:r>
              <a:rPr lang="en-US" sz="1700">
                <a:solidFill>
                  <a:srgbClr val="188038"/>
                </a:solidFill>
              </a:rPr>
              <a:t>requests</a:t>
            </a:r>
            <a:r>
              <a:rPr lang="en-US" sz="1700">
                <a:solidFill>
                  <a:schemeClr val="dk1"/>
                </a:solidFill>
              </a:rPr>
              <a:t>, </a:t>
            </a:r>
            <a:r>
              <a:rPr lang="en-US" sz="1700">
                <a:solidFill>
                  <a:srgbClr val="188038"/>
                </a:solidFill>
              </a:rPr>
              <a:t>urllib3</a:t>
            </a:r>
            <a:r>
              <a:rPr lang="en-US" sz="1700">
                <a:solidFill>
                  <a:schemeClr val="dk1"/>
                </a:solidFill>
              </a:rPr>
              <a:t>, </a:t>
            </a:r>
            <a:r>
              <a:rPr lang="en-US" sz="1700">
                <a:solidFill>
                  <a:srgbClr val="188038"/>
                </a:solidFill>
              </a:rPr>
              <a:t>http.client</a:t>
            </a:r>
            <a:r>
              <a:rPr lang="en-US" sz="1700">
                <a:solidFill>
                  <a:schemeClr val="dk1"/>
                </a:solidFill>
              </a:rPr>
              <a:t> et </a:t>
            </a:r>
            <a:r>
              <a:rPr lang="en-US" sz="1700">
                <a:solidFill>
                  <a:srgbClr val="188038"/>
                </a:solidFill>
              </a:rPr>
              <a:t>socket.recv_into</a:t>
            </a:r>
            <a:r>
              <a:rPr lang="en-US" sz="1700">
                <a:solidFill>
                  <a:schemeClr val="dk1"/>
                </a:solidFill>
              </a:rPr>
              <a:t>. Cependant, le temps cumulé de </a:t>
            </a:r>
            <a:r>
              <a:rPr lang="en-US" sz="1700">
                <a:solidFill>
                  <a:srgbClr val="188038"/>
                </a:solidFill>
              </a:rPr>
              <a:t>recv_into</a:t>
            </a:r>
            <a:r>
              <a:rPr lang="en-US" sz="1700">
                <a:solidFill>
                  <a:schemeClr val="dk1"/>
                </a:solidFill>
              </a:rPr>
              <a:t> diminue à environ </a:t>
            </a:r>
            <a:r>
              <a:rPr b="1" lang="en-US" sz="1700">
                <a:solidFill>
                  <a:schemeClr val="dk1"/>
                </a:solidFill>
              </a:rPr>
              <a:t>3.68 secondes</a:t>
            </a:r>
            <a:r>
              <a:rPr lang="en-US" sz="1700">
                <a:solidFill>
                  <a:schemeClr val="dk1"/>
                </a:solidFill>
              </a:rPr>
              <a:t>.</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Les latences client sont également plus basses, avec de nombreuses requêtes autour de </a:t>
            </a:r>
            <a:r>
              <a:rPr b="1" lang="en-US" sz="1700">
                <a:solidFill>
                  <a:schemeClr val="dk1"/>
                </a:solidFill>
              </a:rPr>
              <a:t>29 à 35 ms</a:t>
            </a:r>
            <a:r>
              <a:rPr lang="en-US" sz="1700">
                <a:solidFill>
                  <a:schemeClr val="dk1"/>
                </a:solidFill>
              </a:rPr>
              <a:t>.</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La latence API interne devient plus stable, souvent autour de </a:t>
            </a:r>
            <a:r>
              <a:rPr b="1" lang="en-US" sz="1700">
                <a:solidFill>
                  <a:schemeClr val="dk1"/>
                </a:solidFill>
              </a:rPr>
              <a:t>6 à 7 ms</a:t>
            </a:r>
            <a:r>
              <a:rPr lang="en-US" sz="1700">
                <a:solidFill>
                  <a:schemeClr val="dk1"/>
                </a:solidFill>
              </a:rPr>
              <a:t>, ce qui montre que les optimisations applicatives ont réduit le coût serveur.</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Quelques pics ponctuels restent présents, parfois au-dessus de </a:t>
            </a:r>
            <a:r>
              <a:rPr b="1" lang="en-US" sz="1700">
                <a:solidFill>
                  <a:schemeClr val="dk1"/>
                </a:solidFill>
              </a:rPr>
              <a:t>100 ms</a:t>
            </a:r>
            <a:r>
              <a:rPr lang="en-US" sz="1700">
                <a:solidFill>
                  <a:schemeClr val="dk1"/>
                </a:solidFill>
              </a:rPr>
              <a:t>, mais ils semblent surtout liés aux échanges HTTP ou à l’environnement local plutôt qu’au modèle.</a:t>
            </a:r>
            <a:endParaRPr sz="1700">
              <a:solidFill>
                <a:schemeClr val="dk1"/>
              </a:solidFill>
            </a:endParaRPr>
          </a:p>
          <a:p>
            <a:pPr indent="0" lvl="0" marL="0" rtl="0" algn="l">
              <a:lnSpc>
                <a:spcPct val="100000"/>
              </a:lnSpc>
              <a:spcBef>
                <a:spcPts val="0"/>
              </a:spcBef>
              <a:spcAft>
                <a:spcPts val="0"/>
              </a:spcAft>
              <a:buNone/>
            </a:pPr>
            <a:r>
              <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700">
                <a:solidFill>
                  <a:schemeClr val="dk1"/>
                </a:solidFill>
              </a:rPr>
              <a:t>Ces résultats confirment que les optimisations mises en place améliorent la stabilité du pipeline et réduisent la latence globale, tout en conservant une architecture observable et exploitable en MLOps.</a:t>
            </a:r>
            <a:endParaRPr sz="1700">
              <a:solidFill>
                <a:schemeClr val="dk1"/>
              </a:solidFill>
            </a:endParaRPr>
          </a:p>
          <a:p>
            <a:pPr indent="0" lvl="0" marL="0" marR="0" rtl="0" algn="l">
              <a:lnSpc>
                <a:spcPct val="100000"/>
              </a:lnSpc>
              <a:spcBef>
                <a:spcPts val="0"/>
              </a:spcBef>
              <a:spcAft>
                <a:spcPts val="0"/>
              </a:spcAft>
              <a:buNone/>
            </a:pPr>
            <a:r>
              <a:t/>
            </a:r>
            <a:endParaRPr sz="17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9" name="Shape 209"/>
        <p:cNvGrpSpPr/>
        <p:nvPr/>
      </p:nvGrpSpPr>
      <p:grpSpPr>
        <a:xfrm>
          <a:off x="0" y="0"/>
          <a:ext cx="0" cy="0"/>
          <a:chOff x="0" y="0"/>
          <a:chExt cx="0" cy="0"/>
        </a:xfrm>
      </p:grpSpPr>
      <p:sp>
        <p:nvSpPr>
          <p:cNvPr id="210" name="Google Shape;210;p28"/>
          <p:cNvSpPr/>
          <p:nvPr/>
        </p:nvSpPr>
        <p:spPr>
          <a:xfrm>
            <a:off x="457200" y="914400"/>
            <a:ext cx="8247300" cy="5303400"/>
          </a:xfrm>
          <a:prstGeom prst="roundRect">
            <a:avLst>
              <a:gd fmla="val 16667" name="adj"/>
            </a:avLst>
          </a:prstGeom>
          <a:solidFill>
            <a:srgbClr val="F8FDFC"/>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28"/>
          <p:cNvSpPr/>
          <p:nvPr/>
        </p:nvSpPr>
        <p:spPr>
          <a:xfrm>
            <a:off x="0" y="0"/>
            <a:ext cx="9144000" cy="64020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28"/>
          <p:cNvSpPr txBox="1"/>
          <p:nvPr/>
        </p:nvSpPr>
        <p:spPr>
          <a:xfrm>
            <a:off x="457200" y="137150"/>
            <a:ext cx="85488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800">
                <a:solidFill>
                  <a:schemeClr val="lt1"/>
                </a:solidFill>
                <a:latin typeface="Calibri"/>
                <a:ea typeface="Calibri"/>
                <a:cs typeface="Calibri"/>
                <a:sym typeface="Calibri"/>
              </a:rPr>
              <a:t>Conclusion</a:t>
            </a:r>
            <a:endParaRPr/>
          </a:p>
        </p:txBody>
      </p:sp>
      <p:sp>
        <p:nvSpPr>
          <p:cNvPr id="213" name="Google Shape;213;p28"/>
          <p:cNvSpPr txBox="1"/>
          <p:nvPr/>
        </p:nvSpPr>
        <p:spPr>
          <a:xfrm>
            <a:off x="592550" y="1259825"/>
            <a:ext cx="7975500" cy="48024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SzPts val="1100"/>
              <a:buNone/>
            </a:pPr>
            <a:r>
              <a:rPr lang="en-US" sz="1700">
                <a:solidFill>
                  <a:schemeClr val="dk1"/>
                </a:solidFill>
              </a:rPr>
              <a:t>Les optimisations mises en place ont permis une amélioration nette des performances globales du pipeline d’inférence:</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Le temps total de profiling passe de </a:t>
            </a:r>
            <a:r>
              <a:rPr b="1" lang="en-US" sz="1700">
                <a:solidFill>
                  <a:schemeClr val="dk1"/>
                </a:solidFill>
              </a:rPr>
              <a:t>4.675 s</a:t>
            </a:r>
            <a:r>
              <a:rPr lang="en-US" sz="1700">
                <a:solidFill>
                  <a:schemeClr val="dk1"/>
                </a:solidFill>
              </a:rPr>
              <a:t> à </a:t>
            </a:r>
            <a:r>
              <a:rPr b="1" lang="en-US" sz="1700">
                <a:solidFill>
                  <a:schemeClr val="dk1"/>
                </a:solidFill>
              </a:rPr>
              <a:t>3.940 s</a:t>
            </a:r>
            <a:r>
              <a:rPr lang="en-US" sz="1700">
                <a:solidFill>
                  <a:schemeClr val="dk1"/>
                </a:solidFill>
              </a:rPr>
              <a:t> pour 100 appels HTTP, soit un gain d’environ </a:t>
            </a:r>
            <a:r>
              <a:rPr b="1" lang="en-US" sz="1700">
                <a:solidFill>
                  <a:schemeClr val="dk1"/>
                </a:solidFill>
              </a:rPr>
              <a:t>15.7 %</a:t>
            </a:r>
            <a:r>
              <a:rPr lang="en-US" sz="1700">
                <a:solidFill>
                  <a:schemeClr val="dk1"/>
                </a:solidFill>
              </a:rPr>
              <a:t>.</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Par rapport à la campagne sklearn initiale, le temps total passe de </a:t>
            </a:r>
            <a:r>
              <a:rPr b="1" lang="en-US" sz="1700">
                <a:solidFill>
                  <a:schemeClr val="dk1"/>
                </a:solidFill>
              </a:rPr>
              <a:t>4.841 s</a:t>
            </a:r>
            <a:r>
              <a:rPr lang="en-US" sz="1700">
                <a:solidFill>
                  <a:schemeClr val="dk1"/>
                </a:solidFill>
              </a:rPr>
              <a:t> à </a:t>
            </a:r>
            <a:r>
              <a:rPr b="1" lang="en-US" sz="1700">
                <a:solidFill>
                  <a:schemeClr val="dk1"/>
                </a:solidFill>
              </a:rPr>
              <a:t>3.940 s</a:t>
            </a:r>
            <a:r>
              <a:rPr lang="en-US" sz="1700">
                <a:solidFill>
                  <a:schemeClr val="dk1"/>
                </a:solidFill>
              </a:rPr>
              <a:t>, soit un gain global d’environ </a:t>
            </a:r>
            <a:r>
              <a:rPr b="1" lang="en-US" sz="1700">
                <a:solidFill>
                  <a:schemeClr val="dk1"/>
                </a:solidFill>
              </a:rPr>
              <a:t>18.6 %</a:t>
            </a:r>
            <a:r>
              <a:rPr lang="en-US" sz="1700">
                <a:solidFill>
                  <a:schemeClr val="dk1"/>
                </a:solidFill>
              </a:rPr>
              <a:t>.</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Le temps cumulé passé dans </a:t>
            </a:r>
            <a:r>
              <a:rPr lang="en-US" sz="1700">
                <a:solidFill>
                  <a:srgbClr val="188038"/>
                </a:solidFill>
              </a:rPr>
              <a:t>socket.recv_into</a:t>
            </a:r>
            <a:r>
              <a:rPr lang="en-US" sz="1700">
                <a:solidFill>
                  <a:schemeClr val="dk1"/>
                </a:solidFill>
              </a:rPr>
              <a:t>, principal indicateur d’attente HTTP, passe de </a:t>
            </a:r>
            <a:r>
              <a:rPr b="1" lang="en-US" sz="1700">
                <a:solidFill>
                  <a:schemeClr val="dk1"/>
                </a:solidFill>
              </a:rPr>
              <a:t>4.414 s</a:t>
            </a:r>
            <a:r>
              <a:rPr lang="en-US" sz="1700">
                <a:solidFill>
                  <a:schemeClr val="dk1"/>
                </a:solidFill>
              </a:rPr>
              <a:t> à </a:t>
            </a:r>
            <a:r>
              <a:rPr b="1" lang="en-US" sz="1700">
                <a:solidFill>
                  <a:schemeClr val="dk1"/>
                </a:solidFill>
              </a:rPr>
              <a:t>3.677 s</a:t>
            </a:r>
            <a:r>
              <a:rPr lang="en-US" sz="1700">
                <a:solidFill>
                  <a:schemeClr val="dk1"/>
                </a:solidFill>
              </a:rPr>
              <a:t>, soit une réduction d’environ </a:t>
            </a:r>
            <a:r>
              <a:rPr b="1" lang="en-US" sz="1700">
                <a:solidFill>
                  <a:schemeClr val="dk1"/>
                </a:solidFill>
              </a:rPr>
              <a:t>16.7 %</a:t>
            </a:r>
            <a:r>
              <a:rPr lang="en-US" sz="1700">
                <a:solidFill>
                  <a:schemeClr val="dk1"/>
                </a:solidFill>
              </a:rPr>
              <a:t>.</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Les latences client deviennent également plus basses, avec une majorité des requêtes désormais situées autour de </a:t>
            </a:r>
            <a:r>
              <a:rPr b="1" lang="en-US" sz="1700">
                <a:solidFill>
                  <a:schemeClr val="dk1"/>
                </a:solidFill>
              </a:rPr>
              <a:t>29 à 35 ms</a:t>
            </a:r>
            <a:r>
              <a:rPr lang="en-US" sz="1700">
                <a:solidFill>
                  <a:schemeClr val="dk1"/>
                </a:solidFill>
              </a:rPr>
              <a:t>, contre plutôt </a:t>
            </a:r>
            <a:r>
              <a:rPr b="1" lang="en-US" sz="1700">
                <a:solidFill>
                  <a:schemeClr val="dk1"/>
                </a:solidFill>
              </a:rPr>
              <a:t>35 à 45 ms</a:t>
            </a:r>
            <a:r>
              <a:rPr lang="en-US" sz="1700">
                <a:solidFill>
                  <a:schemeClr val="dk1"/>
                </a:solidFill>
              </a:rPr>
              <a:t> auparavant.</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US" sz="1700">
                <a:solidFill>
                  <a:schemeClr val="dk1"/>
                </a:solidFill>
              </a:rPr>
              <a:t>La latence API interne devient plus stable, souvent autour de </a:t>
            </a:r>
            <a:r>
              <a:rPr b="1" lang="en-US" sz="1700">
                <a:solidFill>
                  <a:schemeClr val="dk1"/>
                </a:solidFill>
              </a:rPr>
              <a:t>6 à 7 ms</a:t>
            </a:r>
            <a:r>
              <a:rPr lang="en-US" sz="1700">
                <a:solidFill>
                  <a:schemeClr val="dk1"/>
                </a:solidFill>
              </a:rPr>
              <a:t>, ce qui confirme l’impact positif des optimisations applicatives.</a:t>
            </a:r>
            <a:endParaRPr sz="1700">
              <a:solidFill>
                <a:schemeClr val="dk1"/>
              </a:solidFill>
            </a:endParaRPr>
          </a:p>
          <a:p>
            <a:pPr indent="0" lvl="0" marL="0" rtl="0" algn="l">
              <a:lnSpc>
                <a:spcPct val="100000"/>
              </a:lnSpc>
              <a:spcBef>
                <a:spcPts val="0"/>
              </a:spcBef>
              <a:spcAft>
                <a:spcPts val="0"/>
              </a:spcAft>
              <a:buSzPts val="1100"/>
              <a:buNone/>
            </a:pPr>
            <a:r>
              <a:t/>
            </a:r>
            <a:endParaRPr sz="1700">
              <a:solidFill>
                <a:schemeClr val="dk1"/>
              </a:solidFill>
            </a:endParaRPr>
          </a:p>
          <a:p>
            <a:pPr indent="0" lvl="0" marL="0" rtl="0" algn="l">
              <a:lnSpc>
                <a:spcPct val="100000"/>
              </a:lnSpc>
              <a:spcBef>
                <a:spcPts val="0"/>
              </a:spcBef>
              <a:spcAft>
                <a:spcPts val="0"/>
              </a:spcAft>
              <a:buSzPts val="1100"/>
              <a:buNone/>
            </a:pPr>
            <a:r>
              <a:rPr lang="en-US" sz="1700">
                <a:solidFill>
                  <a:schemeClr val="dk1"/>
                </a:solidFill>
              </a:rPr>
              <a:t>Ces résultats montrent que l’amélioration ne vient pas uniquement du passage à ONNX Runtime, mais surtout de l’</a:t>
            </a:r>
            <a:r>
              <a:rPr b="1" lang="en-US" sz="1700">
                <a:solidFill>
                  <a:schemeClr val="dk1"/>
                </a:solidFill>
              </a:rPr>
              <a:t>optimisation de l’ensemble de la chaîne MLOps </a:t>
            </a:r>
            <a:r>
              <a:rPr lang="en-US" sz="1700">
                <a:solidFill>
                  <a:schemeClr val="dk1"/>
                </a:solidFill>
              </a:rPr>
              <a:t>: cache modèle, réduction des traitements, optimisation des logs et meilleure maîtrise du pipeline applicatif</a:t>
            </a:r>
            <a:r>
              <a:rPr lang="en-US" sz="1700">
                <a:solidFill>
                  <a:schemeClr val="dk1"/>
                </a:solidFill>
              </a:rPr>
              <a:t>.</a:t>
            </a:r>
            <a:endParaRPr sz="17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7" name="Shape 217"/>
        <p:cNvGrpSpPr/>
        <p:nvPr/>
      </p:nvGrpSpPr>
      <p:grpSpPr>
        <a:xfrm>
          <a:off x="0" y="0"/>
          <a:ext cx="0" cy="0"/>
          <a:chOff x="0" y="0"/>
          <a:chExt cx="0" cy="0"/>
        </a:xfrm>
      </p:grpSpPr>
      <p:sp>
        <p:nvSpPr>
          <p:cNvPr id="218" name="Google Shape;218;p29"/>
          <p:cNvSpPr/>
          <p:nvPr/>
        </p:nvSpPr>
        <p:spPr>
          <a:xfrm>
            <a:off x="457200" y="914400"/>
            <a:ext cx="8247300" cy="5303400"/>
          </a:xfrm>
          <a:prstGeom prst="roundRect">
            <a:avLst>
              <a:gd fmla="val 16667" name="adj"/>
            </a:avLst>
          </a:prstGeom>
          <a:solidFill>
            <a:srgbClr val="F8FDFC"/>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29"/>
          <p:cNvSpPr/>
          <p:nvPr/>
        </p:nvSpPr>
        <p:spPr>
          <a:xfrm>
            <a:off x="0" y="0"/>
            <a:ext cx="9144000" cy="64020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29"/>
          <p:cNvSpPr txBox="1"/>
          <p:nvPr/>
        </p:nvSpPr>
        <p:spPr>
          <a:xfrm>
            <a:off x="457200" y="137150"/>
            <a:ext cx="85488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800">
                <a:solidFill>
                  <a:schemeClr val="lt1"/>
                </a:solidFill>
                <a:latin typeface="Calibri"/>
                <a:ea typeface="Calibri"/>
                <a:cs typeface="Calibri"/>
                <a:sym typeface="Calibri"/>
              </a:rPr>
              <a:t>Pistes d’amélioration possibles</a:t>
            </a:r>
            <a:endParaRPr/>
          </a:p>
        </p:txBody>
      </p:sp>
      <p:sp>
        <p:nvSpPr>
          <p:cNvPr id="221" name="Google Shape;221;p29"/>
          <p:cNvSpPr txBox="1"/>
          <p:nvPr/>
        </p:nvSpPr>
        <p:spPr>
          <a:xfrm>
            <a:off x="592550" y="1259825"/>
            <a:ext cx="7975500" cy="5028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Même si les résultats sont corrects, plusieurs améliorations pourraient être ajoutées dans une prochaine version du projet :</a:t>
            </a:r>
            <a:endParaRPr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700">
                <a:solidFill>
                  <a:schemeClr val="dk1"/>
                </a:solidFill>
              </a:rPr>
              <a:t>réaliser des tests de charge avec plus d’utilisateurs en parallèle</a:t>
            </a:r>
            <a:endParaRPr sz="17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700">
                <a:solidFill>
                  <a:schemeClr val="dk1"/>
                </a:solidFill>
              </a:rPr>
              <a:t>mesurer séparément le preprocessing, l’inférence et le postprocessing</a:t>
            </a:r>
            <a:endParaRPr sz="17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700">
                <a:solidFill>
                  <a:schemeClr val="dk1"/>
                </a:solidFill>
              </a:rPr>
              <a:t>suivre les performances dans le temps avec un tableau de bord plus complet</a:t>
            </a:r>
            <a:endParaRPr sz="17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700">
                <a:solidFill>
                  <a:schemeClr val="dk1"/>
                </a:solidFill>
              </a:rPr>
              <a:t>ajouter des alertes si la latence devient trop élevée</a:t>
            </a:r>
            <a:endParaRPr sz="17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700">
                <a:solidFill>
                  <a:schemeClr val="dk1"/>
                </a:solidFill>
              </a:rPr>
              <a:t>comparer les résultats sur un environnement cloud ou serveur distant</a:t>
            </a:r>
            <a:endParaRPr sz="17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700">
                <a:solidFill>
                  <a:schemeClr val="dk1"/>
                </a:solidFill>
              </a:rPr>
              <a:t>continuer à optimiser les logs pour garder uniquement les informations utiles</a:t>
            </a:r>
            <a:endParaRPr sz="17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700">
                <a:solidFill>
                  <a:schemeClr val="dk1"/>
                </a:solidFill>
              </a:rPr>
              <a:t>tester le batch inference pour prédire plusieurs clients en une seule requête</a:t>
            </a:r>
            <a:endParaRPr sz="17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700">
                <a:solidFill>
                  <a:schemeClr val="dk1"/>
                </a:solidFill>
              </a:rPr>
              <a:t>surveiller aussi les ressources système comme le CPU, la RAM et le nombre de requêtes</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700">
                <a:solidFill>
                  <a:schemeClr val="dk1"/>
                </a:solidFill>
              </a:rPr>
              <a:t>Ces pistes permettraient de rapprocher progressivement le projet d’un fonctionnement réel en production.</a:t>
            </a:r>
            <a:endParaRPr sz="1700">
              <a:solidFill>
                <a:schemeClr val="dk1"/>
              </a:solidFill>
            </a:endParaRPr>
          </a:p>
          <a:p>
            <a:pPr indent="0" lvl="0" marL="0" rtl="0" algn="l">
              <a:lnSpc>
                <a:spcPct val="100000"/>
              </a:lnSpc>
              <a:spcBef>
                <a:spcPts val="1200"/>
              </a:spcBef>
              <a:spcAft>
                <a:spcPts val="0"/>
              </a:spcAft>
              <a:buSzPts val="1100"/>
              <a:buNone/>
            </a:pPr>
            <a:r>
              <a:t/>
            </a:r>
            <a:endParaRPr sz="17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 name="Shape 225"/>
        <p:cNvGrpSpPr/>
        <p:nvPr/>
      </p:nvGrpSpPr>
      <p:grpSpPr>
        <a:xfrm>
          <a:off x="0" y="0"/>
          <a:ext cx="0" cy="0"/>
          <a:chOff x="0" y="0"/>
          <a:chExt cx="0" cy="0"/>
        </a:xfrm>
      </p:grpSpPr>
      <p:sp>
        <p:nvSpPr>
          <p:cNvPr id="226" name="Google Shape;226;p30"/>
          <p:cNvSpPr/>
          <p:nvPr/>
        </p:nvSpPr>
        <p:spPr>
          <a:xfrm>
            <a:off x="0" y="0"/>
            <a:ext cx="9144000" cy="640080"/>
          </a:xfrm>
          <a:prstGeom prst="rect">
            <a:avLst/>
          </a:prstGeom>
          <a:solidFill>
            <a:srgbClr val="48C9B0"/>
          </a:solidFill>
          <a:ln cap="flat" cmpd="sng" w="9525">
            <a:solidFill>
              <a:srgbClr val="48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30"/>
          <p:cNvSpPr txBox="1"/>
          <p:nvPr/>
        </p:nvSpPr>
        <p:spPr>
          <a:xfrm>
            <a:off x="457200" y="137160"/>
            <a:ext cx="100584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Pistes d’amélioration</a:t>
            </a:r>
            <a:endParaRPr/>
          </a:p>
        </p:txBody>
      </p:sp>
      <p:sp>
        <p:nvSpPr>
          <p:cNvPr id="228" name="Google Shape;228;p30"/>
          <p:cNvSpPr/>
          <p:nvPr/>
        </p:nvSpPr>
        <p:spPr>
          <a:xfrm>
            <a:off x="457200" y="914400"/>
            <a:ext cx="10972800" cy="5303520"/>
          </a:xfrm>
          <a:prstGeom prst="roundRect">
            <a:avLst>
              <a:gd fmla="val 16667" name="adj"/>
            </a:avLst>
          </a:prstGeom>
          <a:solidFill>
            <a:srgbClr val="F8FDFC"/>
          </a:solidFill>
          <a:ln cap="flat" cmpd="sng" w="9525">
            <a:solidFill>
              <a:srgbClr val="48C9B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30"/>
          <p:cNvSpPr txBox="1"/>
          <p:nvPr/>
        </p:nvSpPr>
        <p:spPr>
          <a:xfrm>
            <a:off x="762535" y="1447940"/>
            <a:ext cx="9875400" cy="183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282828"/>
                </a:solidFill>
                <a:latin typeface="Calibri"/>
                <a:ea typeface="Calibri"/>
                <a:cs typeface="Calibri"/>
                <a:sym typeface="Calibri"/>
              </a:rPr>
              <a:t>Plusieurs pistes d’amélioration restent envisageables pour renforcer les performances et la scalabilité.</a:t>
            </a:r>
            <a:endParaRPr/>
          </a:p>
          <a:p>
            <a:pPr indent="0" lvl="0" marL="0" marR="0" rtl="0" algn="l">
              <a:spcBef>
                <a:spcPts val="1400"/>
              </a:spcBef>
              <a:spcAft>
                <a:spcPts val="0"/>
              </a:spcAft>
              <a:buNone/>
            </a:pPr>
            <a:r>
              <a:rPr b="0" i="0" lang="en-US" sz="1800" u="none" cap="none" strike="noStrike">
                <a:solidFill>
                  <a:srgbClr val="282828"/>
                </a:solidFill>
                <a:latin typeface="Calibri"/>
                <a:ea typeface="Calibri"/>
                <a:cs typeface="Calibri"/>
                <a:sym typeface="Calibri"/>
              </a:rPr>
              <a:t>Le batch inference, l’utilisation de gRPC ou l’instrumentation Prometheus/Grafana permettraient d’aller plus loin.</a:t>
            </a:r>
            <a:endParaRPr/>
          </a:p>
          <a:p>
            <a:pPr indent="0" lvl="0" marL="0" marR="0" rtl="0" algn="l">
              <a:spcBef>
                <a:spcPts val="1400"/>
              </a:spcBef>
              <a:spcAft>
                <a:spcPts val="0"/>
              </a:spcAft>
              <a:buNone/>
            </a:pPr>
            <a:r>
              <a:rPr b="0" i="0" lang="en-US" sz="1800" u="none" cap="none" strike="noStrike">
                <a:solidFill>
                  <a:srgbClr val="282828"/>
                </a:solidFill>
                <a:latin typeface="Calibri"/>
                <a:ea typeface="Calibri"/>
                <a:cs typeface="Calibri"/>
                <a:sym typeface="Calibri"/>
              </a:rPr>
              <a:t>Une architecture Kubernetes avec autoscaling pourrait également améliorer la résilience et la montée en charge.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